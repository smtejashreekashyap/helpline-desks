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24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032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E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326880" y="-2194560"/>
            <a:ext cx="5943600" cy="5943600"/>
          </a:xfrm>
          <a:prstGeom prst="ellipse">
            <a:avLst/>
          </a:prstGeom>
          <a:solidFill>
            <a:srgbClr val="0F3A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3152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P14  ·  IT SERVICES / CUSTOMER SUPPORT  ·  TEAM 12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4173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Deskline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146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Helpdesk &amp; Ticketing System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“One case number. One thread. One deadline.”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794760"/>
            <a:ext cx="5120640" cy="0"/>
          </a:xfrm>
          <a:prstGeom prst="line">
            <a:avLst/>
          </a:prstGeom>
          <a:noFill/>
          <a:ln w="12700">
            <a:solidFill>
              <a:srgbClr val="1E4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73152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31596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M Tejashree Kashyap   (2460440)
Sharilyn Fiona Dsilva   (2460449)
Sarvani Panthangi   (2460447)
Samvrith Singh V   (2460441)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43159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BTCS A  ·  5th Semester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5093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github.com/SMTejashreeKashyap/HelpLine-Desks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F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L&amp;T EduTech  ·  CIA-3 Backend Development Project Report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backend-driven helpdesk platform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Deskline models the full lifecycle of a support ticket — from customer submission through agent resolution to manager oversight — the way enterprise tools like Zendesk or Freshdesk do, at a smaller scale. Built on Node.js, Express, and MongoDB with a self-built JWT authentication flow, every protected route enforces role-based access across the three actors in the system.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6309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follows an MVC-style folder structure and implements a five-stage ticket workflow with priority-based SLA deadlines, automatic breach flagging, threaded conversations, agent-only internal notes, escalation, and manager-facing reporting on volume, compliance, and agent workload.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0" y="1554480"/>
            <a:ext cx="4297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76200" dist="25400" dir="5400000" algn="bl" rotWithShape="0">
              <a:srgbClr val="6B8C8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543800" y="167335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9052560" y="15544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modules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0" y="2834640"/>
            <a:ext cx="4297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76200" dist="25400" dir="5400000" algn="bl" rotWithShape="0">
              <a:srgbClr val="6B8C8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7543800" y="295351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28346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0" y="4114800"/>
            <a:ext cx="4297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76200" dist="25400" dir="5400000" algn="bl" rotWithShape="0">
              <a:srgbClr val="6B8C8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543800" y="423367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41148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collections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0" y="5394960"/>
            <a:ext cx="4297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76200" dist="25400" dir="5400000" algn="bl" rotWithShape="0">
              <a:srgbClr val="6B8C8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7543800" y="551383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5-stage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53949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lifecycle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DESKLINE  ·  P14 CUSTOMER SUPPORT HELPDESK &amp; TICKETING SYSTEM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goals driving the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Modelling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83664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tickets, agents, and SLA rules cleanly — deciding deliberately between referencing and embedding.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600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44652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1554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Lifecycle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883664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priority-based SLA deadlines rather than a flat status field.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4864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108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&amp; Escalation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438144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assignment, escalation, and comment threads distinct from internal notes.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3154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44652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3108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3438144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manager-facing reporting on resolution time, SLA compliance, and agent workload.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548640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663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992624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role-based access for Customer, Agent, and Manager/Admin on every protected route.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46520" y="47091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446520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4663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4992624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GitHub-hosted, README-documented codebase a new developer can run in minutes.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DESKLINE  ·  P14 CUSTOMER SUPPORT HELPDESK &amp; TICKETING SYSTEM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/ USER ROLES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roles, one shared ticket record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76200" dist="25400" dir="5400000" algn="bl" rotWithShape="0">
              <a:srgbClr val="6B8C8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0B2E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20440" cy="365760"/>
          </a:xfrm>
          <a:prstGeom prst="rect">
            <a:avLst/>
          </a:prstGeom>
          <a:solidFill>
            <a:srgbClr val="0B2E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822960" y="1792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6002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4320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tickets, tracks live status, and replies in the thread.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70916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ACCOUNT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95604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customer@helpdesk.io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9120" y="16002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76200" dist="25400" dir="5400000" algn="bl" rotWithShape="0">
              <a:srgbClr val="6B8C8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389120" y="160020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0B2E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389120" y="2148840"/>
            <a:ext cx="3520440" cy="365760"/>
          </a:xfrm>
          <a:prstGeom prst="rect">
            <a:avLst/>
          </a:prstGeom>
          <a:solidFill>
            <a:srgbClr val="0B2E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63440" y="181051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4663440" y="1792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16002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Agent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274320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assigned tickets, updates status, and adds internal notes.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470916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ACCOUNT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495604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agent@helpdesk.io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0" y="16002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76200" dist="25400" dir="5400000" algn="bl" rotWithShape="0">
              <a:srgbClr val="6B8C8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229600" y="160020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0B2E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229600" y="2148840"/>
            <a:ext cx="3520440" cy="365760"/>
          </a:xfrm>
          <a:prstGeom prst="rect">
            <a:avLst/>
          </a:prstGeom>
          <a:solidFill>
            <a:srgbClr val="0B2E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503920" y="181051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8503920" y="1792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189720" y="16002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 / Admin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274320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and escalates tickets, configures SLA rules, monitors compliance.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503920" y="470916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ACCOUNT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8503920" y="495604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manager@helpdesk.io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DESKLINE  ·  P14 CUSTOMER SUPPORT HELPDESK &amp; TICKETING SYSTEM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in, what's assumed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scope covers a complete backend helpdesk platform with a demonstration frontend, focused on MongoDB schema design, RESTful API correctness, and workflow / business-rule logic rather than visual polish.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76200" dist="25400" dir="5400000" algn="bl" rotWithShape="0">
              <a:srgbClr val="6B8C8C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128016" cy="128016"/>
          </a:xfrm>
          <a:prstGeom prst="round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051560" y="2697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004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4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 mandatory P14 modules, implemented and demonstrable</a:t>
            </a:r>
            <a:endParaRPr lang="en-US" sz="1300" dirty="0"/>
          </a:p>
          <a:p>
            <a:pPr marL="177800" indent="-177800">
              <a:lnSpc>
                <a:spcPct val="14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Self-built JWT auth flow with bcrypt password hashing</a:t>
            </a:r>
            <a:endParaRPr lang="en-US" sz="1300" dirty="0"/>
          </a:p>
          <a:p>
            <a:pPr marL="177800" indent="-177800">
              <a:lnSpc>
                <a:spcPct val="14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folder structure: routes / controllers / models / middleware</a:t>
            </a:r>
            <a:endParaRPr lang="en-US" sz="1300" dirty="0"/>
          </a:p>
          <a:p>
            <a:pPr marL="177800" indent="-177800">
              <a:lnSpc>
                <a:spcPct val="14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HTML/CSS/JS frontend for live demos across all 3 roles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51460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76200" dist="25400" dir="5400000" algn="bl" rotWithShape="0">
              <a:srgbClr val="6B8C8C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46520" y="2788920"/>
            <a:ext cx="128016" cy="128016"/>
          </a:xfrm>
          <a:prstGeom prst="round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675120" y="2697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&amp; Boundaries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2004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4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integrations (SMS/email/payments) may be mocked</a:t>
            </a:r>
            <a:endParaRPr lang="en-US" sz="1300" dirty="0"/>
          </a:p>
          <a:p>
            <a:pPr marL="177800" indent="-177800">
              <a:lnSpc>
                <a:spcPct val="14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login (Google/Facebook) is not required</a:t>
            </a:r>
            <a:endParaRPr lang="en-US" sz="1300" dirty="0"/>
          </a:p>
          <a:p>
            <a:pPr marL="177800" indent="-177800">
              <a:lnSpc>
                <a:spcPct val="14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currency, locale, and time zone assumed</a:t>
            </a:r>
            <a:endParaRPr lang="en-US" sz="1300" dirty="0"/>
          </a:p>
          <a:p>
            <a:pPr marL="177800" indent="-177800">
              <a:lnSpc>
                <a:spcPct val="14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Postman-only demonstration is an acceptable fallback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DESKLINE  ·  P14 CUSTOMER SUPPORT HELPDESK &amp; TICKETING SYSTEM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stack, fully adopted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63500" dist="25400" dir="5400000" algn="bl" rotWithShape="0">
              <a:srgbClr val="6B8C8C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81912" y="192024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1581912" y="1901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9352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JS runtime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63500" dist="25400" dir="5400000" algn="bl" rotWithShape="0">
              <a:srgbClr val="6B8C8C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370832" y="192024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370832" y="1901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Express.js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9352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routing &amp; middleware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63500" dist="25400" dir="5400000" algn="bl" rotWithShape="0">
              <a:srgbClr val="6B8C8C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159752" y="192024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7159752" y="1901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9352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database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15400" y="16916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63500" dist="25400" dir="5400000" algn="bl" rotWithShape="0">
              <a:srgbClr val="6B8C8C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948672" y="1920240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9948672" y="1901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Mongoose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29352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validation (ODM)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63500" dist="25400" dir="5400000" algn="bl" rotWithShape="0">
              <a:srgbClr val="6B8C8C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581912" y="3977640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1581912" y="39593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49926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authentication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37560" y="37490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63500" dist="25400" dir="5400000" algn="bl" rotWithShape="0">
              <a:srgbClr val="6B8C8C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370832" y="3977640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4370832" y="39593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3474720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bcrypt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474720" y="49926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password hashing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26480" y="37490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63500" dist="25400" dir="5400000" algn="bl" rotWithShape="0">
              <a:srgbClr val="6B8C8C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159752" y="3977640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7159752" y="39593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6263640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Postman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263640" y="49926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&amp; docs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915400" y="374904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63500" dist="25400" dir="5400000" algn="bl" rotWithShape="0">
              <a:srgbClr val="6B8C8C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9948672" y="3977640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9948672" y="39593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9052560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HTML/CSS/JS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9052560" y="49926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frontend (Bootstrap-style)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DESKLINE  ·  P14 CUSTOMER SUPPORT HELPDESK &amp; TICKETING SYSTEM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collections, modelled around reads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Frequently-growing, independently-queried data (comments, ratings) is referenced by ticketId rather than embedded; SLA rules live in their own collection so managers can edit category/priority mappings without touching ticket documents.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109960" cy="35661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email, passwordHash, 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Customer, Agent &amp; Manager/Admin accounts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customerId, category, priority, status, assignedAgentId, slaDueAt, createdAt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ticket record and its lifecycle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ticketId, authorId, message, isInternal, createdAt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Threaded replies and agent-only internal 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category, priority, resolutionHours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Configurable SLA resolution windows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ticketId, customerId, score, comment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9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Post-resolution customer satisfaction rating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DESKLINE  ·  P14 CUSTOMER SUPPORT HELPDESK &amp; TICKETING SYSTEM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STATUS WORKFLOW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lifecycle, not a flat CRUD field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028090"/>
          </a:solidFill>
          <a:ln/>
          <a:effectLst>
            <a:outerShdw blurRad="63500" dist="25400" dir="5400000" algn="bl" rotWithShape="0">
              <a:srgbClr val="3E6B69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75281" y="2706624"/>
            <a:ext cx="330098" cy="164592"/>
          </a:xfrm>
          <a:prstGeom prst="rightArrow">
            <a:avLst/>
          </a:prstGeom>
          <a:solidFill>
            <a:srgbClr val="9DBF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857500" y="233172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028090"/>
          </a:solidFill>
          <a:ln/>
          <a:effectLst>
            <a:outerShdw blurRad="63500" dist="25400" dir="5400000" algn="bl" rotWithShape="0">
              <a:srgbClr val="3E6B69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2857500" y="23317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Progress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84141" y="2706624"/>
            <a:ext cx="330098" cy="164592"/>
          </a:xfrm>
          <a:prstGeom prst="rightArrow">
            <a:avLst/>
          </a:prstGeom>
          <a:solidFill>
            <a:srgbClr val="9DBF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166360" y="233172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028090"/>
          </a:solidFill>
          <a:ln/>
          <a:effectLst>
            <a:outerShdw blurRad="63500" dist="25400" dir="5400000" algn="bl" rotWithShape="0">
              <a:srgbClr val="3E6B69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166360" y="23317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Hold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93001" y="2706624"/>
            <a:ext cx="330098" cy="164592"/>
          </a:xfrm>
          <a:prstGeom prst="rightArrow">
            <a:avLst/>
          </a:prstGeom>
          <a:solidFill>
            <a:srgbClr val="9DBF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475220" y="233172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02C39A"/>
          </a:solidFill>
          <a:ln/>
          <a:effectLst>
            <a:outerShdw blurRad="63500" dist="25400" dir="5400000" algn="bl" rotWithShape="0">
              <a:srgbClr val="3E6B69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475220" y="23317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401861" y="2706624"/>
            <a:ext cx="330098" cy="164592"/>
          </a:xfrm>
          <a:prstGeom prst="rightArrow">
            <a:avLst/>
          </a:prstGeom>
          <a:solidFill>
            <a:srgbClr val="9DBF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784080" y="233172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0B2E33"/>
          </a:solidFill>
          <a:ln/>
          <a:effectLst>
            <a:outerShdw blurRad="63500" dist="25400" dir="5400000" algn="bl" rotWithShape="0">
              <a:srgbClr val="3E6B69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9784080" y="23317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63500" dist="25400" dir="5400000" algn="bl" rotWithShape="0">
              <a:srgbClr val="6B8C8C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77240" y="4023360"/>
            <a:ext cx="128016" cy="128016"/>
          </a:xfrm>
          <a:prstGeom prst="roundRect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1005840" y="3931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Deadline Calculation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315968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Due-by time computed from each ticket's category + priority against configured SLA rules.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97680" y="379476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63500" dist="25400" dir="5400000" algn="bl" rotWithShape="0">
              <a:srgbClr val="6B8C8C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526280" y="4023360"/>
            <a:ext cx="128016" cy="128016"/>
          </a:xfrm>
          <a:prstGeom prst="roundRect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4754880" y="3931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Breach Flagging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26280" y="4315968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crossing their SLA deadline before resolution are visibly flagged “Breached” across lists and reports.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46720" y="379476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63500" dist="25400" dir="5400000" algn="bl" rotWithShape="0">
              <a:srgbClr val="6B8C8C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275320" y="4023360"/>
            <a:ext cx="128016" cy="128016"/>
          </a:xfrm>
          <a:prstGeom prst="roundRect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8503920" y="3931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History Log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275320" y="4315968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transition between stages is captured and shown in the ticket detail view.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DESKLINE  ·  P14 CUSTOMER SUPPORT HELPDESK &amp; TICKETING SYSTEM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MODULES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13 mandatory modules, implemented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13232" y="1769364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13232" y="17510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6002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Authentication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462272" y="1769364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462272" y="17510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010912" y="16002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Creation Module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211312" y="1769364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211312" y="17510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759952" y="16002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Assignment Engine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450592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13232" y="2619756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13232" y="26014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245059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Status Workflow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97680" y="2450592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462272" y="2619756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4462272" y="26014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010912" y="245059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Deadline Calculation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46720" y="2450592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211312" y="2619756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8211312" y="26014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759952" y="245059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 Flagging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300984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13232" y="3470148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713232" y="34518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261872" y="330098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/ Reply Thread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297680" y="3300984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462272" y="3470148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4462272" y="34518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010912" y="330098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Notes Module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046720" y="3300984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211312" y="3470148"/>
            <a:ext cx="438912" cy="43891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8211312" y="34518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759952" y="330098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Workflow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4151376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13232" y="4320540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713232" y="43022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1261872" y="415137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Priority Management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297680" y="4151376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462272" y="4320540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 txBox="1"/>
          <p:nvPr/>
        </p:nvSpPr>
        <p:spPr>
          <a:xfrm>
            <a:off x="4462272" y="43022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5010912" y="415137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Rating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046720" y="4151376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8211312" y="4320540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 txBox="1"/>
          <p:nvPr/>
        </p:nvSpPr>
        <p:spPr>
          <a:xfrm>
            <a:off x="8211312" y="43022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8759952" y="415137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Workload Dashboard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48640" y="5001768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713232" y="5170932"/>
            <a:ext cx="438912" cy="43891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 txBox="1"/>
          <p:nvPr/>
        </p:nvSpPr>
        <p:spPr>
          <a:xfrm>
            <a:off x="713232" y="51526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1261872" y="500176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Reports &amp; Analytics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DESKLINE  ·  P14 CUSTOMER SUPPORT HELPDESK &amp; TICKETING SYSTEM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 REFERENCE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REST routes exposed by the backend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109960" cy="46634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9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/api/auth/register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73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a customer or agent account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9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/api/auth/login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73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 and issue a JWT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9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/api/tickets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73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creates a new ticket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8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9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/api/tickets/:id/assign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73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assigns a ticket to an 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8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9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/api/tickets/:id/status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73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/ Manager updates ticket 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9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/api/tickets/:id/comments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73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customer reply or internal note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8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9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/api/tickets/:id/escalate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73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Escalate a ticket with a reason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9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/api/tickets/:id/rating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73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rates a resolved ticket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A89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9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/api/manager/reports/sla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C73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compliance rate &amp; category breakdown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DESKLINE  ·  P14 CUSTOMER SUPPORT HELPDESK &amp; TICKETING SYSTEM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SCREENS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workflow, three role-scoped views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76200" dist="25400" dir="5400000" algn="bl" rotWithShape="0">
              <a:srgbClr val="6B8C8C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imgs/scr-00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737360"/>
            <a:ext cx="333756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3977640"/>
            <a:ext cx="3337560" cy="0"/>
          </a:xfrm>
          <a:prstGeom prst="line">
            <a:avLst/>
          </a:prstGeom>
          <a:noFill/>
          <a:ln w="12700">
            <a:solidFill>
              <a:srgbClr val="DCEB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777240" y="40873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Portal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41655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tickets &amp; tracks “My tickets” with live SLA due times.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76200" dist="25400" dir="5400000" algn="bl" rotWithShape="0">
              <a:srgbClr val="6B8C8C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imgs/scr-01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80560" y="1737360"/>
            <a:ext cx="3337560" cy="21488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80560" y="3977640"/>
            <a:ext cx="3337560" cy="0"/>
          </a:xfrm>
          <a:prstGeom prst="line">
            <a:avLst/>
          </a:prstGeom>
          <a:noFill/>
          <a:ln w="12700">
            <a:solidFill>
              <a:srgbClr val="DCEB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 txBox="1"/>
          <p:nvPr/>
        </p:nvSpPr>
        <p:spPr>
          <a:xfrm>
            <a:off x="4572000" y="40873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Workspace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41655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status, escalates, and replies or adds internal notes.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76200" dist="25400" dir="5400000" algn="bl" rotWithShape="0">
              <a:srgbClr val="6B8C8C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2" descr="imgs/scr-01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75320" y="1737360"/>
            <a:ext cx="3337560" cy="21488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275320" y="3977640"/>
            <a:ext cx="3337560" cy="0"/>
          </a:xfrm>
          <a:prstGeom prst="line">
            <a:avLst/>
          </a:prstGeom>
          <a:noFill/>
          <a:ln w="12700">
            <a:solidFill>
              <a:srgbClr val="DCEB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 txBox="1"/>
          <p:nvPr/>
        </p:nvSpPr>
        <p:spPr>
          <a:xfrm>
            <a:off x="8366760" y="40873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 Console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441655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every ticket, assigns agents, filters by status.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DESKLINE  ·  P14 CUSTOMER SUPPORT HELPDESK &amp; TICKETING SYSTEM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REPORTS &amp; ANALYTICS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compliance, volume, and category breakdown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7665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76200" dist="25400" dir="5400000" algn="bl" rotWithShape="0">
              <a:srgbClr val="6B8C8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imgs/scr-02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3232" y="1810512"/>
            <a:ext cx="6437376" cy="41513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1737360"/>
            <a:ext cx="4069080" cy="914400"/>
          </a:xfrm>
          <a:prstGeom prst="roundRect">
            <a:avLst>
              <a:gd name="adj" fmla="val 8000"/>
            </a:avLst>
          </a:prstGeom>
          <a:solidFill>
            <a:srgbClr val="0B2E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7818120" y="17373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9189720" y="1737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589520" y="2834640"/>
            <a:ext cx="4069080" cy="914400"/>
          </a:xfrm>
          <a:prstGeom prst="roundRect">
            <a:avLst>
              <a:gd name="adj" fmla="val 8000"/>
            </a:avLst>
          </a:prstGeom>
          <a:solidFill>
            <a:srgbClr val="0B2E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818120" y="28346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9189720" y="2834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9520" y="3931920"/>
            <a:ext cx="4069080" cy="914400"/>
          </a:xfrm>
          <a:prstGeom prst="roundRect">
            <a:avLst>
              <a:gd name="adj" fmla="val 8000"/>
            </a:avLst>
          </a:prstGeom>
          <a:solidFill>
            <a:srgbClr val="0B2E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7818120" y="3931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9189720" y="3931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/ closed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0" y="507492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Workload screen aggregates open tickets, total assigned, and average resolution time per agent. The Reports screen rolls this up into SLA compliance rate, a 14-day ticket volume trend, and a category-wise breakdown.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DESKLINE  ·  P14 CUSTOMER SUPPORT HELPDESK &amp; TICKETING SYSTEM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SAFEGUARDS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pitfalls, deliberately avoided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544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&amp; hashing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901952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bcrypt-hashed; JWT secrets and the MongoDB URI are read from environment variables, never committed to source.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46520" y="16002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44652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15544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Server-side validation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901952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request bodies are validated server-side, so the API is safe to call directly from Postman.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4864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1089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&amp; ownership checks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456432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protected route checks the caller's role and, where relevant, ownership before allowing an update.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46520" y="31546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44652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31089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error handling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3456432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Express middleware returns consistent 4xx/5xx JSON instead of crashing on an unhandled rejection.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54864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6634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Read-pattern schema design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010912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collections are designed around how data is actually read, not relational joins.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46520" y="47091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44652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46634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history logging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5010912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workflow transition is logged, evidencing real business logic — not plain CRUD.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DESKLINE  ·  P14 CUSTOMER SUPPORT HELPDESK &amp; TICKETING SYSTEM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F3A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working, end-to-end helpdesk backend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4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ticket lifecycle with priority-driven SLA deadlines &amp; automatic breach flagging</a:t>
            </a:r>
            <a:endParaRPr lang="en-US" sz="1300" dirty="0"/>
          </a:p>
          <a:p>
            <a:pPr marL="203200" indent="-203200">
              <a:lnSpc>
                <a:spcPct val="14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Role-scoped views for Customer, Agent, and Manager/Admin, each backed by protected API routes</a:t>
            </a:r>
            <a:endParaRPr lang="en-US" sz="1300" dirty="0"/>
          </a:p>
          <a:p>
            <a:pPr marL="203200" indent="-203200">
              <a:lnSpc>
                <a:spcPct val="14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escalation path with customer-visible replies separated from agent-only internal notes</a:t>
            </a:r>
            <a:endParaRPr lang="en-US" sz="1300" dirty="0"/>
          </a:p>
          <a:p>
            <a:pPr marL="203200" indent="-203200">
              <a:lnSpc>
                <a:spcPct val="14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Manager-facing SLA configuration, agent workload dashboard, and compliance reporting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8056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40000"/>
              </a:lnSpc>
              <a:spcAft>
                <a:spcPts val="800"/>
              </a:spcAft>
              <a:buSzPct val="100000"/>
              <a:buChar char="→"/>
            </a:pPr>
            <a:r>
              <a:rPr lang="en-US" sz="1200" dirty="0">
                <a:solidFill>
                  <a:srgbClr val="B9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SMS notifications on assignment &amp; SLA breach</a:t>
            </a:r>
            <a:endParaRPr lang="en-US" sz="1200" dirty="0"/>
          </a:p>
          <a:p>
            <a:pPr marL="203200" indent="-203200">
              <a:lnSpc>
                <a:spcPct val="140000"/>
              </a:lnSpc>
              <a:spcAft>
                <a:spcPts val="800"/>
              </a:spcAft>
              <a:buSzPct val="100000"/>
              <a:buChar char="→"/>
            </a:pPr>
            <a:r>
              <a:rPr lang="en-US" sz="1200" dirty="0">
                <a:solidFill>
                  <a:srgbClr val="B9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Auto-routing to least-loaded available agent</a:t>
            </a:r>
            <a:endParaRPr lang="en-US" sz="1200" dirty="0"/>
          </a:p>
          <a:p>
            <a:pPr marL="203200" indent="-203200">
              <a:lnSpc>
                <a:spcPct val="140000"/>
              </a:lnSpc>
              <a:spcAft>
                <a:spcPts val="800"/>
              </a:spcAft>
              <a:buSzPct val="100000"/>
              <a:buChar char="→"/>
            </a:pPr>
            <a:r>
              <a:rPr lang="en-US" sz="1200" dirty="0">
                <a:solidFill>
                  <a:srgbClr val="B9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 via WebSockets</a:t>
            </a:r>
            <a:endParaRPr lang="en-US" sz="1200" dirty="0"/>
          </a:p>
          <a:p>
            <a:pPr marL="203200" indent="-203200">
              <a:lnSpc>
                <a:spcPct val="140000"/>
              </a:lnSpc>
              <a:spcAft>
                <a:spcPts val="800"/>
              </a:spcAft>
              <a:buSzPct val="100000"/>
              <a:buChar char="→"/>
            </a:pPr>
            <a:r>
              <a:rPr lang="en-US" sz="1200" dirty="0">
                <a:solidFill>
                  <a:srgbClr val="B9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attachment support on ticket replies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92240" y="1600200"/>
            <a:ext cx="5166360" cy="4617720"/>
          </a:xfrm>
          <a:prstGeom prst="roundRect">
            <a:avLst>
              <a:gd name="adj" fmla="val 1980"/>
            </a:avLst>
          </a:prstGeom>
          <a:solidFill>
            <a:srgbClr val="0F3A40"/>
          </a:solidFill>
          <a:ln w="12700">
            <a:solidFill>
              <a:srgbClr val="1E4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81228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224028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Deskline demonstrates a secure, role-based backend built on Node.js, Express, and MongoDB — covering the full support-ticket lifecycle from creation to resolution and rating.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schema choices, consistent role/ownership enforcement, and centralized validation and error handling together show that workflow logic — not plain CRUD — was the focus of this implementation.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FA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Team 12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1526</Words>
  <Application>Microsoft Office PowerPoint</Application>
  <PresentationFormat>Widescreen</PresentationFormat>
  <Paragraphs>284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S.M.TEJASHREE KASHYAP</cp:lastModifiedBy>
  <cp:revision>1</cp:revision>
  <dcterms:created xsi:type="dcterms:W3CDTF">2026-09-09T18:42:57Z</dcterms:created>
  <dcterms:modified xsi:type="dcterms:W3CDTF">2026-09-10T04:35:46Z</dcterms:modified>
</cp:coreProperties>
</file>