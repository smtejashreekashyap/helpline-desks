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9"/>
  </p:notesMasterIdLst>
  <p:sldIdLst>
    <p:sldId id="300"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Lst>
  <p:sldSz cx="12192000" cy="6858000"/>
  <p:notesSz cx="6858000" cy="9144000"/>
  <p:embeddedFontLst>
    <p:embeddedFont>
      <p:font typeface="Archivo Narrow" panose="020B0604020202020204" charset="0"/>
      <p:regular r:id="rId20"/>
      <p:bold r:id="rId21"/>
      <p:italic r:id="rId22"/>
      <p:boldItalic r:id="rId23"/>
    </p:embeddedFont>
    <p:embeddedFont>
      <p:font typeface="Archivo Narrow Medium" panose="020B0604020202020204" charset="0"/>
      <p:regular r:id="rId24"/>
      <p:bold r:id="rId25"/>
      <p:italic r:id="rId26"/>
      <p:boldItalic r:id="rId27"/>
    </p:embeddedFont>
    <p:embeddedFont>
      <p:font typeface="Cambria" panose="02040503050406030204" pitchFamily="18" charset="0"/>
      <p:regular r:id="rId28"/>
      <p:bold r:id="rId29"/>
      <p:italic r:id="rId30"/>
      <p:boldItalic r:id="rId31"/>
    </p:embeddedFont>
    <p:embeddedFont>
      <p:font typeface="IBM Plex Sans Condensed" panose="020B0506050203000203" pitchFamily="34" charset="0"/>
      <p:regular r:id="rId32"/>
      <p:bold r:id="rId33"/>
      <p:italic r:id="rId34"/>
      <p:boldItalic r:id="rId35"/>
    </p:embeddedFont>
    <p:embeddedFont>
      <p:font typeface="Yellowtail"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032"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heme" Target="theme/theme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1" name="Google Shape;21;p2"/>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3" name="Google Shape;23;p2"/>
          <p:cNvSpPr/>
          <p:nvPr/>
        </p:nvSpPr>
        <p:spPr>
          <a:xfrm>
            <a:off x="-9450" y="-30350"/>
            <a:ext cx="122091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4" name="Google Shape;24;p2"/>
          <p:cNvSpPr/>
          <p:nvPr/>
        </p:nvSpPr>
        <p:spPr>
          <a:xfrm>
            <a:off x="-9325" y="154075"/>
            <a:ext cx="122166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5" name="Google Shape;25;p2"/>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6" name="Google Shape;26;p2"/>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7" name="Google Shape;27;p2"/>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8" name="Google Shape;28;p2"/>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9" name="Google Shape;29;p2"/>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Mission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to the society in a dynamic environment</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0" name="Google Shape;30;p2"/>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Vision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Excellence and Service</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1" name="Google Shape;31;p2"/>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GB" sz="1500" b="1" i="0" u="none" strike="noStrike" cap="none">
                <a:solidFill>
                  <a:srgbClr val="D2AE6C"/>
                </a:solidFill>
                <a:latin typeface="Archivo Narrow"/>
                <a:ea typeface="Archivo Narrow"/>
                <a:cs typeface="Archivo Narrow"/>
                <a:sym typeface="Archivo Narrow"/>
              </a:rPr>
              <a:t>Core Values</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Faith in God |  Moral Uprightness</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GB" sz="1200" b="0" i="0" u="none" strike="noStrike" cap="none">
                <a:solidFill>
                  <a:schemeClr val="lt1"/>
                </a:solidFill>
                <a:latin typeface="Archivo Narrow Medium"/>
                <a:ea typeface="Archivo Narrow Medium"/>
                <a:cs typeface="Archivo Narrow Medium"/>
                <a:sym typeface="Archivo Narrow Medium"/>
              </a:rPr>
              <a:t> Love of Fellow Beings |  Social Responsibility</a:t>
            </a:r>
            <a:br>
              <a:rPr lang="en-GB" sz="1200" b="0" i="0" u="none" strike="noStrike" cap="none">
                <a:solidFill>
                  <a:schemeClr val="lt1"/>
                </a:solidFill>
                <a:latin typeface="Archivo Narrow Medium"/>
                <a:ea typeface="Archivo Narrow Medium"/>
                <a:cs typeface="Archivo Narrow Medium"/>
                <a:sym typeface="Archivo Narrow Medium"/>
              </a:rPr>
            </a:br>
            <a:r>
              <a:rPr lang="en-GB" sz="1200" b="0" i="0" u="none" strike="noStrike" cap="none">
                <a:solidFill>
                  <a:schemeClr val="lt1"/>
                </a:solidFill>
                <a:latin typeface="Archivo Narrow Medium"/>
                <a:ea typeface="Archivo Narrow Medium"/>
                <a:cs typeface="Archivo Narrow Medium"/>
                <a:sym typeface="Archivo Narrow Medium"/>
              </a:rPr>
              <a:t>Pursuit of Excellence</a:t>
            </a:r>
            <a:endParaRPr sz="1200" b="0" i="0" u="none" strike="noStrike" cap="none">
              <a:solidFill>
                <a:schemeClr val="lt1"/>
              </a:solidFill>
              <a:latin typeface="Archivo Narrow Medium"/>
              <a:ea typeface="Archivo Narrow Medium"/>
              <a:cs typeface="Archivo Narrow Medium"/>
              <a:sym typeface="Archivo Narrow Medium"/>
            </a:endParaRPr>
          </a:p>
        </p:txBody>
      </p:sp>
      <p:pic>
        <p:nvPicPr>
          <p:cNvPr id="32" name="Google Shape;32;p2" title="CU logo GBT_25.png"/>
          <p:cNvPicPr preferRelativeResize="0"/>
          <p:nvPr/>
        </p:nvPicPr>
        <p:blipFill>
          <a:blip r:embed="rId2">
            <a:alphaModFix/>
          </a:blip>
          <a:stretch>
            <a:fillRect/>
          </a:stretch>
        </p:blipFill>
        <p:spPr>
          <a:xfrm>
            <a:off x="7954061" y="329612"/>
            <a:ext cx="3118595" cy="1056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3" name="Google Shape;43;p5"/>
          <p:cNvSpPr txBox="1">
            <a:spLocks noGrp="1"/>
          </p:cNvSpPr>
          <p:nvPr>
            <p:ph type="body" idx="1"/>
          </p:nvPr>
        </p:nvSpPr>
        <p:spPr>
          <a:xfrm>
            <a:off x="4156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4" name="Google Shape;44;p5"/>
          <p:cNvSpPr txBox="1">
            <a:spLocks noGrp="1"/>
          </p:cNvSpPr>
          <p:nvPr>
            <p:ph type="body" idx="2"/>
          </p:nvPr>
        </p:nvSpPr>
        <p:spPr>
          <a:xfrm>
            <a:off x="64432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5" name="Google Shape;45;p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46" name="Google Shape;46;p5"/>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9" name="Google Shape;49;p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415600" y="740800"/>
            <a:ext cx="70782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52" name="Google Shape;52;p7"/>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53" name="Google Shape;53;p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56" name="Google Shape;56;p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p:nvPr/>
        </p:nvSpPr>
        <p:spPr>
          <a:xfrm>
            <a:off x="6096000" y="272150"/>
            <a:ext cx="6096000" cy="6136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60" name="Google Shape;60;p9"/>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1" name="Google Shape;61;p9"/>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406400" algn="l">
              <a:lnSpc>
                <a:spcPct val="100000"/>
              </a:lnSpc>
              <a:spcBef>
                <a:spcPts val="0"/>
              </a:spcBef>
              <a:spcAft>
                <a:spcPts val="0"/>
              </a:spcAft>
              <a:buSzPts val="2800"/>
              <a:buChar char="●"/>
              <a:defRPr/>
            </a:lvl1pPr>
            <a:lvl2pPr marL="914400" lvl="1" indent="-393700" algn="l">
              <a:lnSpc>
                <a:spcPct val="100000"/>
              </a:lnSpc>
              <a:spcBef>
                <a:spcPts val="800"/>
              </a:spcBef>
              <a:spcAft>
                <a:spcPts val="0"/>
              </a:spcAft>
              <a:buSzPts val="2600"/>
              <a:buChar char="○"/>
              <a:defRPr/>
            </a:lvl2pPr>
            <a:lvl3pPr marL="1371600" lvl="2" indent="-381000" algn="l">
              <a:lnSpc>
                <a:spcPct val="100000"/>
              </a:lnSpc>
              <a:spcBef>
                <a:spcPts val="800"/>
              </a:spcBef>
              <a:spcAft>
                <a:spcPts val="0"/>
              </a:spcAft>
              <a:buSzPts val="2400"/>
              <a:buChar char="■"/>
              <a:defRPr/>
            </a:lvl3pPr>
            <a:lvl4pPr marL="1828800" lvl="3" indent="-381000" algn="l">
              <a:lnSpc>
                <a:spcPct val="100000"/>
              </a:lnSpc>
              <a:spcBef>
                <a:spcPts val="800"/>
              </a:spcBef>
              <a:spcAft>
                <a:spcPts val="0"/>
              </a:spcAft>
              <a:buSzPts val="2400"/>
              <a:buChar char="●"/>
              <a:defRPr/>
            </a:lvl4pPr>
            <a:lvl5pPr marL="2286000" lvl="4" indent="-381000" algn="l">
              <a:lnSpc>
                <a:spcPct val="100000"/>
              </a:lnSpc>
              <a:spcBef>
                <a:spcPts val="800"/>
              </a:spcBef>
              <a:spcAft>
                <a:spcPts val="0"/>
              </a:spcAft>
              <a:buSzPts val="2400"/>
              <a:buChar char="○"/>
              <a:defRPr/>
            </a:lvl5pPr>
            <a:lvl6pPr marL="2743200" lvl="5" indent="-381000" algn="l">
              <a:lnSpc>
                <a:spcPct val="100000"/>
              </a:lnSpc>
              <a:spcBef>
                <a:spcPts val="800"/>
              </a:spcBef>
              <a:spcAft>
                <a:spcPts val="0"/>
              </a:spcAft>
              <a:buSzPts val="2400"/>
              <a:buChar char="■"/>
              <a:defRPr/>
            </a:lvl6pPr>
            <a:lvl7pPr marL="3200400" lvl="6" indent="-381000" algn="l">
              <a:lnSpc>
                <a:spcPct val="100000"/>
              </a:lnSpc>
              <a:spcBef>
                <a:spcPts val="800"/>
              </a:spcBef>
              <a:spcAft>
                <a:spcPts val="0"/>
              </a:spcAft>
              <a:buSzPts val="2400"/>
              <a:buChar char="●"/>
              <a:defRPr/>
            </a:lvl7pPr>
            <a:lvl8pPr marL="3657600" lvl="7" indent="-381000" algn="l">
              <a:lnSpc>
                <a:spcPct val="100000"/>
              </a:lnSpc>
              <a:spcBef>
                <a:spcPts val="800"/>
              </a:spcBef>
              <a:spcAft>
                <a:spcPts val="0"/>
              </a:spcAft>
              <a:buSzPts val="2400"/>
              <a:buChar char="○"/>
              <a:defRPr/>
            </a:lvl8pPr>
            <a:lvl9pPr marL="4114800" lvl="8" indent="-381000" algn="l">
              <a:lnSpc>
                <a:spcPct val="100000"/>
              </a:lnSpc>
              <a:spcBef>
                <a:spcPts val="800"/>
              </a:spcBef>
              <a:spcAft>
                <a:spcPts val="800"/>
              </a:spcAft>
              <a:buSzPts val="2400"/>
              <a:buChar char="■"/>
              <a:defRPr/>
            </a:lvl9pPr>
          </a:lstStyle>
          <a:p>
            <a:endParaRPr/>
          </a:p>
        </p:txBody>
      </p:sp>
      <p:sp>
        <p:nvSpPr>
          <p:cNvPr id="62" name="Google Shape;62;p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0"/>
          <p:cNvSpPr txBox="1">
            <a:spLocks noGrp="1"/>
          </p:cNvSpPr>
          <p:nvPr>
            <p:ph type="body" idx="1"/>
          </p:nvPr>
        </p:nvSpPr>
        <p:spPr>
          <a:xfrm>
            <a:off x="415600" y="5773325"/>
            <a:ext cx="7998300" cy="6351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800"/>
              <a:buNone/>
              <a:defRPr/>
            </a:lvl1pPr>
          </a:lstStyle>
          <a:p>
            <a:endParaRPr/>
          </a:p>
        </p:txBody>
      </p:sp>
      <p:sp>
        <p:nvSpPr>
          <p:cNvPr id="65" name="Google Shape;65;p1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68" name="Google Shape;68;p11"/>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406400" algn="ctr">
              <a:lnSpc>
                <a:spcPct val="100000"/>
              </a:lnSpc>
              <a:spcBef>
                <a:spcPts val="0"/>
              </a:spcBef>
              <a:spcAft>
                <a:spcPts val="0"/>
              </a:spcAft>
              <a:buSzPts val="2800"/>
              <a:buChar char="●"/>
              <a:defRPr/>
            </a:lvl1pPr>
            <a:lvl2pPr marL="914400" lvl="1" indent="-393700" algn="ctr">
              <a:lnSpc>
                <a:spcPct val="100000"/>
              </a:lnSpc>
              <a:spcBef>
                <a:spcPts val="800"/>
              </a:spcBef>
              <a:spcAft>
                <a:spcPts val="0"/>
              </a:spcAft>
              <a:buSzPts val="2600"/>
              <a:buChar char="○"/>
              <a:defRPr/>
            </a:lvl2pPr>
            <a:lvl3pPr marL="1371600" lvl="2" indent="-381000" algn="ctr">
              <a:lnSpc>
                <a:spcPct val="100000"/>
              </a:lnSpc>
              <a:spcBef>
                <a:spcPts val="800"/>
              </a:spcBef>
              <a:spcAft>
                <a:spcPts val="0"/>
              </a:spcAft>
              <a:buSzPts val="2400"/>
              <a:buChar char="■"/>
              <a:defRPr/>
            </a:lvl3pPr>
            <a:lvl4pPr marL="1828800" lvl="3" indent="-381000" algn="ctr">
              <a:lnSpc>
                <a:spcPct val="100000"/>
              </a:lnSpc>
              <a:spcBef>
                <a:spcPts val="800"/>
              </a:spcBef>
              <a:spcAft>
                <a:spcPts val="0"/>
              </a:spcAft>
              <a:buSzPts val="2400"/>
              <a:buChar char="●"/>
              <a:defRPr/>
            </a:lvl4pPr>
            <a:lvl5pPr marL="2286000" lvl="4" indent="-381000" algn="ctr">
              <a:lnSpc>
                <a:spcPct val="100000"/>
              </a:lnSpc>
              <a:spcBef>
                <a:spcPts val="800"/>
              </a:spcBef>
              <a:spcAft>
                <a:spcPts val="0"/>
              </a:spcAft>
              <a:buSzPts val="2400"/>
              <a:buChar char="○"/>
              <a:defRPr/>
            </a:lvl5pPr>
            <a:lvl6pPr marL="2743200" lvl="5" indent="-381000" algn="ctr">
              <a:lnSpc>
                <a:spcPct val="100000"/>
              </a:lnSpc>
              <a:spcBef>
                <a:spcPts val="800"/>
              </a:spcBef>
              <a:spcAft>
                <a:spcPts val="0"/>
              </a:spcAft>
              <a:buSzPts val="2400"/>
              <a:buChar char="■"/>
              <a:defRPr/>
            </a:lvl6pPr>
            <a:lvl7pPr marL="3200400" lvl="6" indent="-381000" algn="ctr">
              <a:lnSpc>
                <a:spcPct val="100000"/>
              </a:lnSpc>
              <a:spcBef>
                <a:spcPts val="800"/>
              </a:spcBef>
              <a:spcAft>
                <a:spcPts val="0"/>
              </a:spcAft>
              <a:buSzPts val="2400"/>
              <a:buChar char="●"/>
              <a:defRPr/>
            </a:lvl7pPr>
            <a:lvl8pPr marL="3657600" lvl="7" indent="-381000" algn="ctr">
              <a:lnSpc>
                <a:spcPct val="100000"/>
              </a:lnSpc>
              <a:spcBef>
                <a:spcPts val="800"/>
              </a:spcBef>
              <a:spcAft>
                <a:spcPts val="0"/>
              </a:spcAft>
              <a:buSzPts val="2400"/>
              <a:buChar char="○"/>
              <a:defRPr/>
            </a:lvl8pPr>
            <a:lvl9pPr marL="4114800" lvl="8" indent="-381000" algn="ctr">
              <a:lnSpc>
                <a:spcPct val="100000"/>
              </a:lnSpc>
              <a:spcBef>
                <a:spcPts val="800"/>
              </a:spcBef>
              <a:spcAft>
                <a:spcPts val="800"/>
              </a:spcAft>
              <a:buSzPts val="2400"/>
              <a:buChar char="■"/>
              <a:defRPr/>
            </a:lvl9pPr>
          </a:lstStyle>
          <a:p>
            <a:endParaRPr/>
          </a:p>
        </p:txBody>
      </p:sp>
      <p:sp>
        <p:nvSpPr>
          <p:cNvPr id="69" name="Google Shape;69;p1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3"/>
          <p:cNvSpPr txBox="1">
            <a:spLocks noGrp="1"/>
          </p:cNvSpPr>
          <p:nvPr>
            <p:ph type="title"/>
          </p:nvPr>
        </p:nvSpPr>
        <p:spPr>
          <a:xfrm>
            <a:off x="691079" y="725951"/>
            <a:ext cx="10325100" cy="14424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3"/>
          <p:cNvSpPr txBox="1">
            <a:spLocks noGrp="1"/>
          </p:cNvSpPr>
          <p:nvPr>
            <p:ph type="body" idx="1"/>
          </p:nvPr>
        </p:nvSpPr>
        <p:spPr>
          <a:xfrm>
            <a:off x="691079" y="2340131"/>
            <a:ext cx="10325100" cy="3564300"/>
          </a:xfrm>
          <a:prstGeom prst="rect">
            <a:avLst/>
          </a:prstGeom>
          <a:noFill/>
          <a:ln>
            <a:noFill/>
          </a:ln>
        </p:spPr>
        <p:txBody>
          <a:bodyPr spcFirstLastPara="1" wrap="square" lIns="91425" tIns="45700" rIns="91425" bIns="45700" anchor="t" anchorCtr="0">
            <a:normAutofit/>
          </a:bodyPr>
          <a:lstStyle>
            <a:lvl1pPr marL="457200" lvl="0" indent="-314325" algn="l">
              <a:lnSpc>
                <a:spcPct val="110000"/>
              </a:lnSpc>
              <a:spcBef>
                <a:spcPts val="1000"/>
              </a:spcBef>
              <a:spcAft>
                <a:spcPts val="0"/>
              </a:spcAft>
              <a:buSzPts val="1350"/>
              <a:buChar char="▪"/>
              <a:defRPr/>
            </a:lvl1pPr>
            <a:lvl2pPr marL="914400" lvl="1" indent="-314325" algn="l">
              <a:lnSpc>
                <a:spcPct val="110000"/>
              </a:lnSpc>
              <a:spcBef>
                <a:spcPts val="500"/>
              </a:spcBef>
              <a:spcAft>
                <a:spcPts val="0"/>
              </a:spcAft>
              <a:buSzPts val="1350"/>
              <a:buChar char="▪"/>
              <a:defRPr/>
            </a:lvl2pPr>
            <a:lvl3pPr marL="1371600" lvl="2" indent="-314325" algn="l">
              <a:lnSpc>
                <a:spcPct val="110000"/>
              </a:lnSpc>
              <a:spcBef>
                <a:spcPts val="500"/>
              </a:spcBef>
              <a:spcAft>
                <a:spcPts val="0"/>
              </a:spcAft>
              <a:buSzPts val="1350"/>
              <a:buChar char="▪"/>
              <a:defRPr/>
            </a:lvl3pPr>
            <a:lvl4pPr marL="1828800" lvl="3" indent="-314325" algn="l">
              <a:lnSpc>
                <a:spcPct val="110000"/>
              </a:lnSpc>
              <a:spcBef>
                <a:spcPts val="500"/>
              </a:spcBef>
              <a:spcAft>
                <a:spcPts val="0"/>
              </a:spcAft>
              <a:buSzPts val="1350"/>
              <a:buChar char="▪"/>
              <a:defRPr/>
            </a:lvl4pPr>
            <a:lvl5pPr marL="2286000" lvl="4" indent="-314325" algn="l">
              <a:lnSpc>
                <a:spcPct val="110000"/>
              </a:lnSpc>
              <a:spcBef>
                <a:spcPts val="500"/>
              </a:spcBef>
              <a:spcAft>
                <a:spcPts val="0"/>
              </a:spcAft>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3"/>
          <p:cNvSpPr txBox="1">
            <a:spLocks noGrp="1"/>
          </p:cNvSpPr>
          <p:nvPr>
            <p:ph type="sldNum" idx="12"/>
          </p:nvPr>
        </p:nvSpPr>
        <p:spPr>
          <a:xfrm>
            <a:off x="11003649" y="6215870"/>
            <a:ext cx="979200" cy="4170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24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tx2"/>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1pPr>
            <a:lvl2pPr marR="0" lvl="1"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2pPr>
            <a:lvl3pPr marR="0" lvl="2"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3pPr>
            <a:lvl4pPr marR="0" lvl="3"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4pPr>
            <a:lvl5pPr marR="0" lvl="4"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5pPr>
            <a:lvl6pPr marR="0" lvl="5"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6pPr>
            <a:lvl7pPr marR="0" lvl="6"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7pPr>
            <a:lvl8pPr marR="0" lvl="7"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8pPr>
            <a:lvl9pPr marR="0" lvl="8"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9pPr>
          </a:lstStyle>
          <a:p>
            <a:endParaRPr/>
          </a:p>
        </p:txBody>
      </p:sp>
      <p:sp>
        <p:nvSpPr>
          <p:cNvPr id="11" name="Google Shape;11;p1"/>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marR="0" lvl="0" indent="-406400" algn="l" rtl="0">
              <a:lnSpc>
                <a:spcPct val="100000"/>
              </a:lnSpc>
              <a:spcBef>
                <a:spcPts val="0"/>
              </a:spcBef>
              <a:spcAft>
                <a:spcPts val="0"/>
              </a:spcAft>
              <a:buClr>
                <a:srgbClr val="000000"/>
              </a:buClr>
              <a:buSzPts val="2800"/>
              <a:buFont typeface="IBM Plex Sans Condensed"/>
              <a:buChar char="●"/>
              <a:defRPr sz="28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l" rtl="0">
              <a:lnSpc>
                <a:spcPct val="100000"/>
              </a:lnSpc>
              <a:spcBef>
                <a:spcPts val="800"/>
              </a:spcBef>
              <a:spcAft>
                <a:spcPts val="0"/>
              </a:spcAft>
              <a:buClr>
                <a:srgbClr val="000000"/>
              </a:buClr>
              <a:buSzPts val="2600"/>
              <a:buFont typeface="IBM Plex Sans Condensed"/>
              <a:buChar char="○"/>
              <a:defRPr sz="26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3pPr>
            <a:lvl4pPr marL="1828800" marR="0" lvl="3"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4pPr>
            <a:lvl5pPr marL="2286000" marR="0" lvl="4"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5pPr>
            <a:lvl6pPr marL="2743200" marR="0" lvl="5"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6pPr>
            <a:lvl7pPr marL="3200400" marR="0" lvl="6"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7pPr>
            <a:lvl8pPr marL="3657600" marR="0" lvl="7"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8pPr>
            <a:lvl9pPr marL="4114800" marR="0" lvl="8" indent="-381000" algn="l" rtl="0">
              <a:lnSpc>
                <a:spcPct val="100000"/>
              </a:lnSpc>
              <a:spcBef>
                <a:spcPts val="800"/>
              </a:spcBef>
              <a:spcAft>
                <a:spcPts val="80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9pPr>
          </a:lstStyle>
          <a:p>
            <a:endParaRPr/>
          </a:p>
        </p:txBody>
      </p:sp>
      <p:sp>
        <p:nvSpPr>
          <p:cNvPr id="12" name="Google Shape;12;p1"/>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3" name="Google Shape;13;p1"/>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4" name="Google Shape;14;p1"/>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5" name="Google Shape;15;p1"/>
          <p:cNvSpPr txBox="1"/>
          <p:nvPr/>
        </p:nvSpPr>
        <p:spPr>
          <a:xfrm rot="-462626">
            <a:off x="8825224" y="6371287"/>
            <a:ext cx="1824597" cy="43110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GB" sz="1600" b="0" i="0" u="none" strike="noStrike" cap="none">
                <a:solidFill>
                  <a:srgbClr val="D2AE6C"/>
                </a:solidFill>
                <a:latin typeface="Yellowtail"/>
                <a:ea typeface="Yellowtail"/>
                <a:cs typeface="Yellowtail"/>
                <a:sym typeface="Yellowtail"/>
              </a:rPr>
              <a:t>Excellence &amp; Service</a:t>
            </a:r>
            <a:endParaRPr sz="1600" b="0" i="0" u="none" strike="noStrike" cap="none">
              <a:solidFill>
                <a:srgbClr val="D2AE6C"/>
              </a:solidFill>
              <a:latin typeface="Yellowtail"/>
              <a:ea typeface="Yellowtail"/>
              <a:cs typeface="Yellowtail"/>
              <a:sym typeface="Yellowtail"/>
            </a:endParaRPr>
          </a:p>
        </p:txBody>
      </p:sp>
      <p:sp>
        <p:nvSpPr>
          <p:cNvPr id="16" name="Google Shape;16;p1"/>
          <p:cNvSpPr txBox="1"/>
          <p:nvPr/>
        </p:nvSpPr>
        <p:spPr>
          <a:xfrm rot="1419">
            <a:off x="6067858" y="6448425"/>
            <a:ext cx="29064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GB" sz="1400" b="0" i="0" u="none" strike="noStrike" cap="none">
                <a:solidFill>
                  <a:srgbClr val="CCCCCC"/>
                </a:solidFill>
                <a:latin typeface="Archivo Narrow"/>
                <a:ea typeface="Archivo Narrow"/>
                <a:cs typeface="Archivo Narrow"/>
                <a:sym typeface="Archivo Narrow"/>
              </a:rPr>
              <a:t>CHRIST (Deemed to be University)</a:t>
            </a:r>
            <a:endParaRPr sz="1400" b="0" i="0" u="none" strike="noStrike" cap="none">
              <a:solidFill>
                <a:srgbClr val="CCCCCC"/>
              </a:solidFill>
              <a:latin typeface="Archivo Narrow"/>
              <a:ea typeface="Archivo Narrow"/>
              <a:cs typeface="Archivo Narrow"/>
              <a:sym typeface="Archivo Narrow"/>
            </a:endParaRPr>
          </a:p>
        </p:txBody>
      </p:sp>
      <p:sp>
        <p:nvSpPr>
          <p:cNvPr id="17" name="Google Shape;17;p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pic>
        <p:nvPicPr>
          <p:cNvPr id="18" name="Google Shape;18;p1" title="CU logo crest Gold.png"/>
          <p:cNvPicPr preferRelativeResize="0"/>
          <p:nvPr/>
        </p:nvPicPr>
        <p:blipFill>
          <a:blip r:embed="rId13">
            <a:alphaModFix amt="3000"/>
          </a:blip>
          <a:stretch>
            <a:fillRect/>
          </a:stretch>
        </p:blipFill>
        <p:spPr>
          <a:xfrm>
            <a:off x="8140250" y="2136400"/>
            <a:ext cx="3984660" cy="39688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961120" y="-91440"/>
            <a:ext cx="2926080" cy="2926080"/>
          </a:xfrm>
          <a:prstGeom prst="ellipse">
            <a:avLst/>
          </a:prstGeom>
          <a:ln w="12700">
            <a:solidFill>
              <a:srgbClr val="8FD3FE">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9418320" y="365760"/>
            <a:ext cx="2011680" cy="2011680"/>
          </a:xfrm>
          <a:prstGeom prst="ellipse">
            <a:avLst/>
          </a:prstGeom>
          <a:ln w="12700">
            <a:solidFill>
              <a:srgbClr val="8FD3FE">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875520" y="822960"/>
            <a:ext cx="1097280" cy="1097280"/>
          </a:xfrm>
          <a:prstGeom prst="ellipse">
            <a:avLst/>
          </a:prstGeom>
          <a:ln w="12700">
            <a:solidFill>
              <a:srgbClr val="8FD3FE">
                <a:alpha val="3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0" y="5120640"/>
            <a:ext cx="1828800" cy="1828800"/>
          </a:xfrm>
          <a:prstGeom prst="ellipse">
            <a:avLst/>
          </a:prstGeom>
          <a:ln w="12700">
            <a:solidFill>
              <a:srgbClr val="8FD3FE">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365760" y="5486400"/>
            <a:ext cx="1097280" cy="1097280"/>
          </a:xfrm>
          <a:prstGeom prst="ellipse">
            <a:avLst/>
          </a:prstGeom>
          <a:ln w="12700">
            <a:solidFill>
              <a:srgbClr val="8FD3FE">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txBox="1"/>
          <p:nvPr/>
        </p:nvSpPr>
        <p:spPr>
          <a:xfrm>
            <a:off x="822960" y="1417320"/>
            <a:ext cx="10515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chemeClr val="tx1"/>
                </a:solidFill>
                <a:effectLst/>
                <a:uLnTx/>
                <a:uFillTx/>
                <a:latin typeface="Calibri" pitchFamily="34" charset="0"/>
                <a:ea typeface="Calibri" pitchFamily="34" charset="-122"/>
                <a:cs typeface="Calibri" pitchFamily="34" charset="-120"/>
              </a:rPr>
              <a:t>COMPUTER NETWORKS  ·  UNIT V</a:t>
            </a:r>
          </a:p>
        </p:txBody>
      </p:sp>
      <p:sp>
        <p:nvSpPr>
          <p:cNvPr id="8" name="Text 6"/>
          <p:cNvSpPr txBox="1"/>
          <p:nvPr/>
        </p:nvSpPr>
        <p:spPr>
          <a:xfrm>
            <a:off x="777240" y="1874520"/>
            <a:ext cx="9875520" cy="2651760"/>
          </a:xfrm>
          <a:prstGeom prst="rect">
            <a:avLst/>
          </a:prstGeom>
          <a:noFill/>
          <a:ln/>
        </p:spPr>
        <p:txBody>
          <a:bodyPr wrap="square" lIns="0" tIns="0" rIns="0" bIns="0" rtlCol="0" anchor="ctr"/>
          <a:lstStyle/>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Firewalls, Trusted Systems</a:t>
            </a:r>
          </a:p>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&amp; Common Criteria for</a:t>
            </a:r>
          </a:p>
          <a:p>
            <a:pPr marL="0" marR="0" lvl="0" indent="0" algn="l" defTabSz="914400" rtl="0" eaLnBrk="1" fontAlgn="auto" latinLnBrk="0" hangingPunct="1">
              <a:lnSpc>
                <a:spcPts val="5000"/>
              </a:lnSpc>
              <a:spcBef>
                <a:spcPts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IT Security Evaluation</a:t>
            </a:r>
            <a:endParaRPr kumimoji="0" lang="en-US" sz="4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9" name="Shape 7"/>
          <p:cNvSpPr/>
          <p:nvPr/>
        </p:nvSpPr>
        <p:spPr>
          <a:xfrm>
            <a:off x="841248" y="4617720"/>
            <a:ext cx="502920" cy="54864"/>
          </a:xfrm>
          <a:prstGeom prst="rect">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22960" y="4800600"/>
            <a:ext cx="8686800" cy="731520"/>
          </a:xfrm>
          <a:prstGeom prst="rect">
            <a:avLst/>
          </a:prstGeom>
          <a:noFill/>
          <a:ln/>
        </p:spPr>
        <p:txBody>
          <a:bodyPr wrap="square" lIns="0" tIns="0" rIns="0" bIns="0"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itchFamily="34" charset="0"/>
                <a:ea typeface="Calibri" pitchFamily="34" charset="-122"/>
                <a:cs typeface="Calibri" pitchFamily="34" charset="-120"/>
              </a:rPr>
              <a:t>A study of network perimeter defense, trust models,</a:t>
            </a:r>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itchFamily="34" charset="0"/>
                <a:ea typeface="Calibri" pitchFamily="34" charset="-122"/>
                <a:cs typeface="Calibri" pitchFamily="34" charset="-120"/>
              </a:rPr>
              <a:t>and international standards for security evaluation.</a:t>
            </a:r>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11" name="Text 9"/>
          <p:cNvSpPr txBox="1"/>
          <p:nvPr/>
        </p:nvSpPr>
        <p:spPr>
          <a:xfrm>
            <a:off x="841248" y="54864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UNIT V</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B4DF0B1-B61E-E494-7F5C-EFC3AD3C0F0F}"/>
              </a:ext>
            </a:extLst>
          </p:cNvPr>
          <p:cNvSpPr txBox="1"/>
          <p:nvPr/>
        </p:nvSpPr>
        <p:spPr>
          <a:xfrm>
            <a:off x="8876394" y="4884896"/>
            <a:ext cx="3038011" cy="738664"/>
          </a:xfrm>
          <a:prstGeom prst="rect">
            <a:avLst/>
          </a:prstGeom>
          <a:noFill/>
        </p:spPr>
        <p:txBody>
          <a:bodyPr wrap="none" rtlCol="0">
            <a:spAutoFit/>
          </a:bodyPr>
          <a:lstStyle/>
          <a:p>
            <a:r>
              <a:rPr lang="en-US" b="1" dirty="0"/>
              <a:t>BY:</a:t>
            </a:r>
          </a:p>
          <a:p>
            <a:r>
              <a:rPr lang="en-US" b="1" dirty="0"/>
              <a:t>S M Tejashree Kashyap - 2460440</a:t>
            </a:r>
            <a:endParaRPr lang="en-IN" b="1" dirty="0"/>
          </a:p>
          <a:p>
            <a:r>
              <a:rPr lang="en-US" b="1" dirty="0"/>
              <a:t>Anurag Etta – 2460335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Introduction to Firewalls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640080" y="1691640"/>
            <a:ext cx="6309360" cy="2377440"/>
          </a:xfrm>
          <a:prstGeom prst="rect">
            <a:avLst/>
          </a:prstGeom>
          <a:noFill/>
          <a:ln/>
        </p:spPr>
        <p:txBody>
          <a:bodyPr wrap="square" lIns="0" tIns="0" rIns="0" bIns="0" rtlCol="0" anchor="ct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Modern networks constantly face hostile or unwanted access attempts, whether from outside intruders or misused internal privileges. A firewall acts as a controlled choke point between a trusted internal network and an untrusted external network, enforcing a defined security policy on every packet that tries to cross the boundary.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7315200" y="1691640"/>
            <a:ext cx="4251960" cy="960120"/>
          </a:xfrm>
          <a:prstGeom prst="roundRect">
            <a:avLst>
              <a:gd name="adj" fmla="val 7619"/>
            </a:avLst>
          </a:prstGeom>
          <a:solidFill>
            <a:srgbClr val="FFFFFF"/>
          </a:solidFill>
          <a:ln/>
          <a:effectLst>
            <a:outerShdw blurRad="76200" dist="25400" dir="5400000" algn="bl" rotWithShape="0">
              <a:srgbClr val="1B2A4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498080" y="1920240"/>
            <a:ext cx="502920" cy="50292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txBox="1"/>
          <p:nvPr/>
        </p:nvSpPr>
        <p:spPr>
          <a:xfrm>
            <a:off x="7498080" y="192024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01</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138160" y="1810512"/>
            <a:ext cx="3246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Choke Point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txBox="1"/>
          <p:nvPr/>
        </p:nvSpPr>
        <p:spPr>
          <a:xfrm>
            <a:off x="8138160" y="2121408"/>
            <a:ext cx="3246120" cy="45720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Interconnects networks with differing trust and imposes restrictions on services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7315200" y="2852928"/>
            <a:ext cx="4251960" cy="960120"/>
          </a:xfrm>
          <a:prstGeom prst="roundRect">
            <a:avLst>
              <a:gd name="adj" fmla="val 7619"/>
            </a:avLst>
          </a:prstGeom>
          <a:solidFill>
            <a:srgbClr val="FFFFFF"/>
          </a:solidFill>
          <a:ln/>
          <a:effectLst>
            <a:outerShdw blurRad="76200" dist="25400" dir="5400000" algn="bl" rotWithShape="0">
              <a:srgbClr val="1B2A4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7498080" y="3081528"/>
            <a:ext cx="502920" cy="502920"/>
          </a:xfrm>
          <a:prstGeom prst="ellipse">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7498080" y="3081528"/>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02</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8138160" y="2971800"/>
            <a:ext cx="3246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Traffic Filtering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8138160" y="3282696"/>
            <a:ext cx="3246120" cy="45720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Only authorized traffic, matching defined rules, is allowed to pass through</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315200" y="4014216"/>
            <a:ext cx="4251960" cy="960120"/>
          </a:xfrm>
          <a:prstGeom prst="roundRect">
            <a:avLst>
              <a:gd name="adj" fmla="val 7619"/>
            </a:avLst>
          </a:prstGeom>
          <a:solidFill>
            <a:srgbClr val="FFFFFF"/>
          </a:solidFill>
          <a:ln/>
          <a:effectLst>
            <a:outerShdw blurRad="76200" dist="25400" dir="5400000" algn="bl" rotWithShape="0">
              <a:srgbClr val="1B2A4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498080" y="4242816"/>
            <a:ext cx="502920" cy="50292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7498080" y="4242816"/>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8138160" y="4133088"/>
            <a:ext cx="3246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Auditing &amp; Alarms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8138160" y="4443984"/>
            <a:ext cx="3246120" cy="45720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Logs activity and can raise alarms for abnormal or suspicious behaviour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7315200" y="5175504"/>
            <a:ext cx="4251960" cy="960120"/>
          </a:xfrm>
          <a:prstGeom prst="roundRect">
            <a:avLst>
              <a:gd name="adj" fmla="val 7619"/>
            </a:avLst>
          </a:prstGeom>
          <a:solidFill>
            <a:srgbClr val="FFFFFF"/>
          </a:solidFill>
          <a:ln/>
          <a:effectLst>
            <a:outerShdw blurRad="76200" dist="25400" dir="5400000" algn="bl" rotWithShape="0">
              <a:srgbClr val="1B2A4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498080" y="5404104"/>
            <a:ext cx="502920" cy="502920"/>
          </a:xfrm>
          <a:prstGeom prst="ellipse">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7498080" y="5404104"/>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04</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8138160" y="5294376"/>
            <a:ext cx="324612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NAT &amp; VPN Support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8138160" y="5605272"/>
            <a:ext cx="3246120" cy="45720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Provides usage monitoring, address translation, and secure VPNs via IPSec</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What is a Firewall?</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640080" y="1691640"/>
            <a:ext cx="6492240" cy="2103120"/>
          </a:xfrm>
          <a:prstGeom prst="rect">
            <a:avLst/>
          </a:prstGeom>
          <a:noFill/>
          <a:ln/>
        </p:spPr>
        <p:txBody>
          <a:bodyPr wrap="square" lIns="0" tIns="0" rIns="0" bIns="0" rtlCol="0" anchor="ct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A firewall is a system, or group of systems, that enforces an access-control policy between an internal trusted network and an external untrusted network such as the Internet. It forms a single choke point through which all traffic must pass, where security and auditing can be imposed and monitored.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640080" y="393192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Core capabilities of a firewall: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640080" y="429768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Interconnects networks with differing levels of trust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3840480" y="429768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Imposes restrictions — only authorized traffic is allowed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640080" y="466344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Provides auditing and controlling of network access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txBox="1"/>
          <p:nvPr/>
        </p:nvSpPr>
        <p:spPr>
          <a:xfrm>
            <a:off x="3840480" y="466344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Can implement alarms for abnormal behaviour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640080" y="502920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Provides NAT and usage monitoring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3840480" y="502920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Implements VPNs using IPSec</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498080" y="1691640"/>
            <a:ext cx="4069080" cy="4160520"/>
          </a:xfrm>
          <a:prstGeom prst="roundRect">
            <a:avLst>
              <a:gd name="adj" fmla="val 2247"/>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0149840" y="1554480"/>
            <a:ext cx="1463040" cy="146304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0424160" y="1828800"/>
            <a:ext cx="914400" cy="91440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7772400" y="196596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CRITICAL PROPERTY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7772400" y="2286000"/>
            <a:ext cx="3474720" cy="1005840"/>
          </a:xfrm>
          <a:prstGeom prst="rect">
            <a:avLst/>
          </a:prstGeom>
          <a:noFill/>
          <a:ln/>
        </p:spPr>
        <p:txBody>
          <a:bodyPr wrap="square" lIns="0" tIns="0" rIns="0" bIns="0" rtlCol="0" anchor="ct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Immune to</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Penetration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772400" y="3429000"/>
            <a:ext cx="3291840" cy="0"/>
          </a:xfrm>
          <a:prstGeom prst="line">
            <a:avLst/>
          </a:prstGeom>
          <a:noFill/>
          <a:ln w="12700">
            <a:solidFill>
              <a:srgbClr val="2A487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7772400" y="3639312"/>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8028432" y="3538728"/>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Choke Point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8028432" y="3794760"/>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All traffic between the two networks is forced through one controlled point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772400" y="4398264"/>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8028432" y="4297680"/>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Policy Enforcement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8028432" y="4553712"/>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Only traffic that matches the defined security policy is permitted to pass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772400" y="5157216"/>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8028432" y="5056632"/>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Trusted Perimeter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8028432" y="5312664"/>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Separates trusted internal hosts from untrusted external networks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indent="0">
              <a:buNone/>
            </a:pPr>
            <a:r>
              <a:rPr lang="en-US" sz="1200" b="1" kern="0" spc="200" dirty="0">
                <a:solidFill>
                  <a:srgbClr val="FF9F1C"/>
                </a:solidFill>
                <a:latin typeface="Calibri" pitchFamily="34" charset="0"/>
                <a:ea typeface="Calibri" pitchFamily="34" charset="-122"/>
                <a:cs typeface="Calibri" pitchFamily="34" charset="-120"/>
              </a:rPr>
              <a:t>CHAPTER 2</a:t>
            </a:r>
            <a:endParaRPr lang="en-US" sz="1200" dirty="0"/>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indent="0">
              <a:buNone/>
            </a:pPr>
            <a:r>
              <a:rPr lang="en-US" sz="3000" b="1" dirty="0">
                <a:solidFill>
                  <a:srgbClr val="0B1F3A"/>
                </a:solidFill>
                <a:latin typeface="Cambria" pitchFamily="34" charset="0"/>
                <a:ea typeface="Cambria" pitchFamily="34" charset="-122"/>
                <a:cs typeface="Cambria" pitchFamily="34" charset="-120"/>
              </a:rPr>
              <a:t>Firewall Limitations</a:t>
            </a:r>
            <a:endParaRPr lang="en-US" sz="3000" dirty="0"/>
          </a:p>
        </p:txBody>
      </p:sp>
      <p:sp>
        <p:nvSpPr>
          <p:cNvPr id="4" name="Shape 2"/>
          <p:cNvSpPr/>
          <p:nvPr/>
        </p:nvSpPr>
        <p:spPr>
          <a:xfrm>
            <a:off x="640080" y="1828800"/>
            <a:ext cx="3520440" cy="4114800"/>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sp>
        <p:nvSpPr>
          <p:cNvPr id="5" name="Shape 3"/>
          <p:cNvSpPr/>
          <p:nvPr/>
        </p:nvSpPr>
        <p:spPr>
          <a:xfrm>
            <a:off x="2011680" y="2331720"/>
            <a:ext cx="777240" cy="777240"/>
          </a:xfrm>
          <a:prstGeom prst="ellipse">
            <a:avLst/>
          </a:prstGeom>
          <a:solidFill>
            <a:srgbClr val="FF9F1C"/>
          </a:solidFill>
          <a:ln/>
        </p:spPr>
        <p:txBody>
          <a:bodyPr/>
          <a:lstStyle/>
          <a:p>
            <a:endParaRPr lang="en-IN"/>
          </a:p>
        </p:txBody>
      </p:sp>
      <p:sp>
        <p:nvSpPr>
          <p:cNvPr id="6" name="Text 4"/>
          <p:cNvSpPr txBox="1"/>
          <p:nvPr/>
        </p:nvSpPr>
        <p:spPr>
          <a:xfrm>
            <a:off x="2011680" y="2331720"/>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B</a:t>
            </a:r>
            <a:endParaRPr lang="en-US" sz="3000" dirty="0"/>
          </a:p>
        </p:txBody>
      </p:sp>
      <p:sp>
        <p:nvSpPr>
          <p:cNvPr id="7" name="Text 5"/>
          <p:cNvSpPr txBox="1"/>
          <p:nvPr/>
        </p:nvSpPr>
        <p:spPr>
          <a:xfrm>
            <a:off x="868680" y="3246120"/>
            <a:ext cx="3063240" cy="411480"/>
          </a:xfrm>
          <a:prstGeom prst="rect">
            <a:avLst/>
          </a:prstGeom>
          <a:noFill/>
          <a:ln/>
        </p:spPr>
        <p:txBody>
          <a:bodyPr wrap="square" lIns="0" tIns="0" rIns="0" bIns="0" rtlCol="0" anchor="ctr"/>
          <a:lstStyle/>
          <a:p>
            <a:pPr marL="0" indent="0" algn="ctr">
              <a:buNone/>
            </a:pPr>
            <a:r>
              <a:rPr lang="en-US" sz="1900" b="1" dirty="0">
                <a:solidFill>
                  <a:srgbClr val="0B1F3A"/>
                </a:solidFill>
                <a:latin typeface="Cambria" pitchFamily="34" charset="0"/>
                <a:ea typeface="Cambria" pitchFamily="34" charset="-122"/>
                <a:cs typeface="Cambria" pitchFamily="34" charset="-120"/>
              </a:rPr>
              <a:t>Bypass Routes</a:t>
            </a:r>
            <a:endParaRPr lang="en-US" sz="1900" dirty="0"/>
          </a:p>
        </p:txBody>
      </p:sp>
      <p:sp>
        <p:nvSpPr>
          <p:cNvPr id="8" name="Text 6"/>
          <p:cNvSpPr txBox="1"/>
          <p:nvPr/>
        </p:nvSpPr>
        <p:spPr>
          <a:xfrm>
            <a:off x="914400" y="3749040"/>
            <a:ext cx="2971800" cy="2011680"/>
          </a:xfrm>
          <a:prstGeom prst="rect">
            <a:avLst/>
          </a:prstGeom>
          <a:noFill/>
          <a:ln/>
        </p:spPr>
        <p:txBody>
          <a:bodyPr wrap="square" lIns="0" tIns="0" rIns="0" bIns="0" rtlCol="0" anchor="ctr"/>
          <a:lstStyle/>
          <a:p>
            <a:pPr marL="0" indent="0" algn="ctr">
              <a:lnSpc>
                <a:spcPts val="1700"/>
              </a:lnSpc>
              <a:buNone/>
            </a:pPr>
            <a:r>
              <a:rPr lang="en-US" sz="1200" dirty="0">
                <a:solidFill>
                  <a:srgbClr val="5C6B80"/>
                </a:solidFill>
                <a:latin typeface="Calibri" pitchFamily="34" charset="0"/>
                <a:ea typeface="Calibri" pitchFamily="34" charset="-122"/>
                <a:cs typeface="Calibri" pitchFamily="34" charset="-120"/>
              </a:rPr>
              <a:t>Cannot protect against attacks that bypass it entirely — sneaker-net transfers, dial-up modems, or trusted external services such as SSL/SSH tunnels.</a:t>
            </a:r>
            <a:endParaRPr lang="en-US" sz="1200" dirty="0"/>
          </a:p>
        </p:txBody>
      </p:sp>
      <p:sp>
        <p:nvSpPr>
          <p:cNvPr id="9" name="Shape 7"/>
          <p:cNvSpPr/>
          <p:nvPr/>
        </p:nvSpPr>
        <p:spPr>
          <a:xfrm>
            <a:off x="4434840" y="1828800"/>
            <a:ext cx="3520440" cy="4114800"/>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sp>
        <p:nvSpPr>
          <p:cNvPr id="10" name="Shape 8"/>
          <p:cNvSpPr/>
          <p:nvPr/>
        </p:nvSpPr>
        <p:spPr>
          <a:xfrm>
            <a:off x="5806440" y="2331720"/>
            <a:ext cx="777240" cy="777240"/>
          </a:xfrm>
          <a:prstGeom prst="ellipse">
            <a:avLst/>
          </a:prstGeom>
          <a:solidFill>
            <a:srgbClr val="8FD3FE"/>
          </a:solidFill>
          <a:ln/>
        </p:spPr>
        <p:txBody>
          <a:bodyPr/>
          <a:lstStyle/>
          <a:p>
            <a:endParaRPr lang="en-IN"/>
          </a:p>
        </p:txBody>
      </p:sp>
      <p:sp>
        <p:nvSpPr>
          <p:cNvPr id="11" name="Text 9"/>
          <p:cNvSpPr txBox="1"/>
          <p:nvPr/>
        </p:nvSpPr>
        <p:spPr>
          <a:xfrm>
            <a:off x="5806440" y="2331720"/>
            <a:ext cx="777240" cy="777240"/>
          </a:xfrm>
          <a:prstGeom prst="rect">
            <a:avLst/>
          </a:prstGeom>
          <a:noFill/>
          <a:ln/>
        </p:spPr>
        <p:txBody>
          <a:bodyPr wrap="square" lIns="0" tIns="0" rIns="0" bIns="0" rtlCol="0" anchor="ctr"/>
          <a:lstStyle/>
          <a:p>
            <a:pPr marL="0" indent="0" algn="ctr">
              <a:buNone/>
            </a:pPr>
            <a:r>
              <a:rPr lang="en-US" sz="3000" b="1" dirty="0">
                <a:solidFill>
                  <a:srgbClr val="0B1F3A"/>
                </a:solidFill>
                <a:latin typeface="Cambria" pitchFamily="34" charset="0"/>
                <a:ea typeface="Cambria" pitchFamily="34" charset="-122"/>
                <a:cs typeface="Cambria" pitchFamily="34" charset="-120"/>
              </a:rPr>
              <a:t>I</a:t>
            </a:r>
            <a:endParaRPr lang="en-US" sz="3000" dirty="0"/>
          </a:p>
        </p:txBody>
      </p:sp>
      <p:sp>
        <p:nvSpPr>
          <p:cNvPr id="12" name="Text 10"/>
          <p:cNvSpPr txBox="1"/>
          <p:nvPr/>
        </p:nvSpPr>
        <p:spPr>
          <a:xfrm>
            <a:off x="4663440" y="3246120"/>
            <a:ext cx="3063240" cy="411480"/>
          </a:xfrm>
          <a:prstGeom prst="rect">
            <a:avLst/>
          </a:prstGeom>
          <a:noFill/>
          <a:ln/>
        </p:spPr>
        <p:txBody>
          <a:bodyPr wrap="square" lIns="0" tIns="0" rIns="0" bIns="0" rtlCol="0" anchor="ctr"/>
          <a:lstStyle/>
          <a:p>
            <a:pPr marL="0" indent="0" algn="ctr">
              <a:buNone/>
            </a:pPr>
            <a:r>
              <a:rPr lang="en-US" sz="1900" b="1" dirty="0">
                <a:solidFill>
                  <a:srgbClr val="0B1F3A"/>
                </a:solidFill>
                <a:latin typeface="Cambria" pitchFamily="34" charset="0"/>
                <a:ea typeface="Cambria" pitchFamily="34" charset="-122"/>
                <a:cs typeface="Cambria" pitchFamily="34" charset="-120"/>
              </a:rPr>
              <a:t>Insider Threats</a:t>
            </a:r>
            <a:endParaRPr lang="en-US" sz="1900" dirty="0"/>
          </a:p>
        </p:txBody>
      </p:sp>
      <p:sp>
        <p:nvSpPr>
          <p:cNvPr id="13" name="Text 11"/>
          <p:cNvSpPr txBox="1"/>
          <p:nvPr/>
        </p:nvSpPr>
        <p:spPr>
          <a:xfrm>
            <a:off x="4709160" y="3749040"/>
            <a:ext cx="2971800" cy="2011680"/>
          </a:xfrm>
          <a:prstGeom prst="rect">
            <a:avLst/>
          </a:prstGeom>
          <a:noFill/>
          <a:ln/>
        </p:spPr>
        <p:txBody>
          <a:bodyPr wrap="square" lIns="0" tIns="0" rIns="0" bIns="0" rtlCol="0" anchor="ctr"/>
          <a:lstStyle/>
          <a:p>
            <a:pPr marL="0" indent="0" algn="ctr">
              <a:lnSpc>
                <a:spcPts val="1700"/>
              </a:lnSpc>
              <a:buNone/>
            </a:pPr>
            <a:r>
              <a:rPr lang="en-US" sz="1200" dirty="0">
                <a:solidFill>
                  <a:srgbClr val="5C6B80"/>
                </a:solidFill>
                <a:latin typeface="Calibri" pitchFamily="34" charset="0"/>
                <a:ea typeface="Calibri" pitchFamily="34" charset="-122"/>
                <a:cs typeface="Calibri" pitchFamily="34" charset="-120"/>
              </a:rPr>
              <a:t>Cannot protect against internal threats, such as a disgruntled or colluding employee misusing legitimate access rights.</a:t>
            </a:r>
            <a:endParaRPr lang="en-US" sz="1200" dirty="0"/>
          </a:p>
        </p:txBody>
      </p:sp>
      <p:sp>
        <p:nvSpPr>
          <p:cNvPr id="14" name="Shape 12"/>
          <p:cNvSpPr/>
          <p:nvPr/>
        </p:nvSpPr>
        <p:spPr>
          <a:xfrm>
            <a:off x="8229600" y="1828800"/>
            <a:ext cx="3520440" cy="4114800"/>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sp>
        <p:nvSpPr>
          <p:cNvPr id="15" name="Shape 13"/>
          <p:cNvSpPr/>
          <p:nvPr/>
        </p:nvSpPr>
        <p:spPr>
          <a:xfrm>
            <a:off x="9601200" y="2331720"/>
            <a:ext cx="777240" cy="777240"/>
          </a:xfrm>
          <a:prstGeom prst="ellipse">
            <a:avLst/>
          </a:prstGeom>
          <a:solidFill>
            <a:srgbClr val="0B1F3A"/>
          </a:solidFill>
          <a:ln/>
        </p:spPr>
        <p:txBody>
          <a:bodyPr/>
          <a:lstStyle/>
          <a:p>
            <a:endParaRPr lang="en-IN"/>
          </a:p>
        </p:txBody>
      </p:sp>
      <p:sp>
        <p:nvSpPr>
          <p:cNvPr id="16" name="Text 14"/>
          <p:cNvSpPr txBox="1"/>
          <p:nvPr/>
        </p:nvSpPr>
        <p:spPr>
          <a:xfrm>
            <a:off x="9601200" y="2331720"/>
            <a:ext cx="777240" cy="77724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M</a:t>
            </a:r>
            <a:endParaRPr lang="en-US" sz="3000" dirty="0"/>
          </a:p>
        </p:txBody>
      </p:sp>
      <p:sp>
        <p:nvSpPr>
          <p:cNvPr id="17" name="Text 15"/>
          <p:cNvSpPr txBox="1"/>
          <p:nvPr/>
        </p:nvSpPr>
        <p:spPr>
          <a:xfrm>
            <a:off x="8458200" y="3246120"/>
            <a:ext cx="3063240" cy="411480"/>
          </a:xfrm>
          <a:prstGeom prst="rect">
            <a:avLst/>
          </a:prstGeom>
          <a:noFill/>
          <a:ln/>
        </p:spPr>
        <p:txBody>
          <a:bodyPr wrap="square" lIns="0" tIns="0" rIns="0" bIns="0" rtlCol="0" anchor="ctr"/>
          <a:lstStyle/>
          <a:p>
            <a:pPr marL="0" indent="0" algn="ctr">
              <a:buNone/>
            </a:pPr>
            <a:r>
              <a:rPr lang="en-US" sz="1900" b="1" dirty="0">
                <a:solidFill>
                  <a:srgbClr val="0B1F3A"/>
                </a:solidFill>
                <a:latin typeface="Cambria" pitchFamily="34" charset="0"/>
                <a:ea typeface="Cambria" pitchFamily="34" charset="-122"/>
                <a:cs typeface="Cambria" pitchFamily="34" charset="-120"/>
              </a:rPr>
              <a:t>Malware Transfer</a:t>
            </a:r>
            <a:endParaRPr lang="en-US" sz="1900" dirty="0"/>
          </a:p>
        </p:txBody>
      </p:sp>
      <p:sp>
        <p:nvSpPr>
          <p:cNvPr id="18" name="Text 16"/>
          <p:cNvSpPr txBox="1"/>
          <p:nvPr/>
        </p:nvSpPr>
        <p:spPr>
          <a:xfrm>
            <a:off x="8503920" y="3749040"/>
            <a:ext cx="2971800" cy="2011680"/>
          </a:xfrm>
          <a:prstGeom prst="rect">
            <a:avLst/>
          </a:prstGeom>
          <a:noFill/>
          <a:ln/>
        </p:spPr>
        <p:txBody>
          <a:bodyPr wrap="square" lIns="0" tIns="0" rIns="0" bIns="0" rtlCol="0" anchor="ctr"/>
          <a:lstStyle/>
          <a:p>
            <a:pPr marL="0" indent="0" algn="ctr">
              <a:lnSpc>
                <a:spcPts val="1700"/>
              </a:lnSpc>
              <a:buNone/>
            </a:pPr>
            <a:r>
              <a:rPr lang="en-US" sz="1200" dirty="0">
                <a:solidFill>
                  <a:srgbClr val="5C6B80"/>
                </a:solidFill>
                <a:latin typeface="Calibri" pitchFamily="34" charset="0"/>
                <a:ea typeface="Calibri" pitchFamily="34" charset="-122"/>
                <a:cs typeface="Calibri" pitchFamily="34" charset="-120"/>
              </a:rPr>
              <a:t>Cannot fully protect against transfer of virus-infected programs or files, given the huge range of operating systems and file types.</a:t>
            </a:r>
            <a:endParaRPr lang="en-US" sz="1200" dirty="0"/>
          </a:p>
        </p:txBody>
      </p:sp>
      <p:sp>
        <p:nvSpPr>
          <p:cNvPr id="19" name="Text 17"/>
          <p:cNvSpPr txBox="1"/>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5C6B80"/>
                </a:solidFill>
                <a:latin typeface="Calibri" pitchFamily="34" charset="0"/>
                <a:ea typeface="Calibri" pitchFamily="34" charset="-122"/>
                <a:cs typeface="Calibri" pitchFamily="34" charset="-120"/>
              </a:rPr>
              <a:t>COMPUTER NETWORKS – UNIT V</a:t>
            </a:r>
            <a:endParaRPr lang="en-US" sz="900" dirty="0"/>
          </a:p>
        </p:txBody>
      </p:sp>
      <p:sp>
        <p:nvSpPr>
          <p:cNvPr id="20" name="Text 18"/>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6B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Types of Firewalls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783080"/>
            <a:ext cx="2606040" cy="3931920"/>
          </a:xfrm>
          <a:prstGeom prst="roundRect">
            <a:avLst>
              <a:gd name="adj" fmla="val 3509"/>
            </a:avLst>
          </a:prstGeom>
          <a:solidFill>
            <a:srgbClr val="FFFFFF"/>
          </a:solidFill>
          <a:ln/>
          <a:effectLst>
            <a:outerShdw blurRad="76200" dist="25400" dir="5400000" algn="bl" rotWithShape="0">
              <a:srgbClr val="1B2A41">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00200" y="2103120"/>
            <a:ext cx="685800" cy="685800"/>
          </a:xfrm>
          <a:prstGeom prst="ellipse">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txBox="1"/>
          <p:nvPr/>
        </p:nvSpPr>
        <p:spPr>
          <a:xfrm>
            <a:off x="1600200" y="210312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PF</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777240" y="3017520"/>
            <a:ext cx="2331720" cy="502920"/>
          </a:xfrm>
          <a:prstGeom prst="rect">
            <a:avLst/>
          </a:prstGeom>
          <a:noFill/>
          <a:ln/>
        </p:spPr>
        <p:txBody>
          <a:bodyPr wrap="square" lIns="0" tIns="0" rIns="0" bIns="0" rtlCol="0" anchor="ct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Packet-Filtering Router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22960" y="3566160"/>
            <a:ext cx="2240280" cy="2011680"/>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Examines each IP packet in isolation (no context) and permits or denies it based on static address/port rules.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474720" y="1783080"/>
            <a:ext cx="2606040" cy="3931920"/>
          </a:xfrm>
          <a:prstGeom prst="roundRect">
            <a:avLst>
              <a:gd name="adj" fmla="val 3509"/>
            </a:avLst>
          </a:prstGeom>
          <a:solidFill>
            <a:srgbClr val="FFFFFF"/>
          </a:solidFill>
          <a:ln/>
          <a:effectLst>
            <a:outerShdw blurRad="76200" dist="25400" dir="5400000" algn="bl" rotWithShape="0">
              <a:srgbClr val="1B2A41">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434840" y="2103120"/>
            <a:ext cx="685800" cy="68580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txBox="1"/>
          <p:nvPr/>
        </p:nvSpPr>
        <p:spPr>
          <a:xfrm>
            <a:off x="4434840" y="210312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SI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3611880" y="3017520"/>
            <a:ext cx="2331720" cy="502920"/>
          </a:xfrm>
          <a:prstGeom prst="rect">
            <a:avLst/>
          </a:prstGeom>
          <a:noFill/>
          <a:ln/>
        </p:spPr>
        <p:txBody>
          <a:bodyPr wrap="square" lIns="0" tIns="0" rIns="0" bIns="0" rtlCol="0" anchor="ct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Stateful Inspection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3657600" y="3566160"/>
            <a:ext cx="2240280" cy="2011680"/>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Tracks client–server sessions in context, validating that each packet genuinely belongs to an established connection.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309360" y="1783080"/>
            <a:ext cx="2606040" cy="3931920"/>
          </a:xfrm>
          <a:prstGeom prst="roundRect">
            <a:avLst>
              <a:gd name="adj" fmla="val 3509"/>
            </a:avLst>
          </a:prstGeom>
          <a:solidFill>
            <a:srgbClr val="FFFFFF"/>
          </a:solidFill>
          <a:ln/>
          <a:effectLst>
            <a:outerShdw blurRad="76200" dist="25400" dir="5400000" algn="bl" rotWithShape="0">
              <a:srgbClr val="1B2A41">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7269480" y="2103120"/>
            <a:ext cx="685800" cy="685800"/>
          </a:xfrm>
          <a:prstGeom prst="ellipse">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7269480" y="210312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AG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6446520" y="3017520"/>
            <a:ext cx="2331720" cy="502920"/>
          </a:xfrm>
          <a:prstGeom prst="rect">
            <a:avLst/>
          </a:prstGeom>
          <a:noFill/>
          <a:ln/>
        </p:spPr>
        <p:txBody>
          <a:bodyPr wrap="square" lIns="0" tIns="0" rIns="0" bIns="0" rtlCol="0" anchor="ct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Application-Level Gateway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6492240" y="3566160"/>
            <a:ext cx="2240280" cy="2011680"/>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A proxy with full understanding of the application protocol; validates requests before relaying them onward.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9144000" y="1783080"/>
            <a:ext cx="2606040" cy="3931920"/>
          </a:xfrm>
          <a:prstGeom prst="roundRect">
            <a:avLst>
              <a:gd name="adj" fmla="val 3509"/>
            </a:avLst>
          </a:prstGeom>
          <a:solidFill>
            <a:srgbClr val="FFFFFF"/>
          </a:solidFill>
          <a:ln/>
          <a:effectLst>
            <a:outerShdw blurRad="76200" dist="25400" dir="5400000" algn="bl" rotWithShape="0">
              <a:srgbClr val="1B2A41">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10104120" y="2103120"/>
            <a:ext cx="685800" cy="68580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10104120" y="2103120"/>
            <a:ext cx="685800"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9281160" y="3017520"/>
            <a:ext cx="2331720" cy="502920"/>
          </a:xfrm>
          <a:prstGeom prst="rect">
            <a:avLst/>
          </a:prstGeom>
          <a:noFill/>
          <a:ln/>
        </p:spPr>
        <p:txBody>
          <a:bodyPr wrap="square" lIns="0" tIns="0" rIns="0" bIns="0" rtlCol="0" anchor="ctr"/>
          <a:lstStyle/>
          <a:p>
            <a:pPr marL="0" marR="0" lvl="0" indent="0" algn="ctr" defTabSz="914400" rtl="0" eaLnBrk="1" fontAlgn="auto" latinLnBrk="0" hangingPunct="1">
              <a:lnSpc>
                <a:spcPts val="16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Circuit-Level Gateway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9326880" y="3566160"/>
            <a:ext cx="2240280" cy="2011680"/>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Relays two TCP connections after validating the session, without inspecting the application content.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Packet-Filtering Firewalls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1" name="Subhead 9001"/>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The simplest, fastest firewall component: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2" name="Bullet 9002"/>
          <p:cNvSpPr txBox="1"/>
          <p:nvPr/>
        </p:nvSpPr>
        <p:spPr>
          <a:xfrm>
            <a:off x="640080" y="2130060"/>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Foundation of any firewall system</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3" name="Bullet 9003"/>
          <p:cNvSpPr txBox="1"/>
          <p:nvPr/>
        </p:nvSpPr>
        <p:spPr>
          <a:xfrm>
            <a:off x="640080" y="2522622"/>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Examines each IP packet in isolation (no context) and permits or denies it according to defined rules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4" name="Bullet 9004"/>
          <p:cNvSpPr txBox="1"/>
          <p:nvPr/>
        </p:nvSpPr>
        <p:spPr>
          <a:xfrm>
            <a:off x="640080" y="3097746"/>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Restricts access to services by filtering on ports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5" name="Bullet 9005"/>
          <p:cNvSpPr txBox="1"/>
          <p:nvPr/>
        </p:nvSpPr>
        <p:spPr>
          <a:xfrm>
            <a:off x="640080" y="3490308"/>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Default policy: deny unless expressly permitted, or permit unless expressly prohibited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6" name="Card 9006"/>
          <p:cNvSpPr/>
          <p:nvPr/>
        </p:nvSpPr>
        <p:spPr>
          <a:xfrm>
            <a:off x="6500000" y="2949883"/>
            <a:ext cx="5051920" cy="2200293"/>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007" name="Picture 9006" descr="image.png"/>
          <p:cNvPicPr>
            <a:picLocks noChangeAspect="1"/>
          </p:cNvPicPr>
          <p:nvPr/>
        </p:nvPicPr>
        <p:blipFill>
          <a:blip r:embed="rId2"/>
          <a:stretch>
            <a:fillRect/>
          </a:stretch>
        </p:blipFill>
        <p:spPr>
          <a:xfrm>
            <a:off x="6680000" y="3129883"/>
            <a:ext cx="4691920" cy="1840293"/>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8"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Packet-Filter Rule Examples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09" name="Para 9009"/>
          <p:cNvSpPr txBox="1"/>
          <p:nvPr/>
        </p:nvSpPr>
        <p:spPr>
          <a:xfrm>
            <a:off x="640080" y="1750060"/>
            <a:ext cx="11551920" cy="5000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Rules are checked in order for every packet; the first matching rule decides whether it is allowed or blocked.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0" name="Card 9010"/>
          <p:cNvSpPr/>
          <p:nvPr/>
        </p:nvSpPr>
        <p:spPr>
          <a:xfrm>
            <a:off x="2910951" y="2310060"/>
            <a:ext cx="7010177" cy="4039940"/>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011" name="Picture 9010" descr="image.png"/>
          <p:cNvPicPr>
            <a:picLocks noChangeAspect="1"/>
          </p:cNvPicPr>
          <p:nvPr/>
        </p:nvPicPr>
        <p:blipFill>
          <a:blip r:embed="rId2"/>
          <a:stretch>
            <a:fillRect/>
          </a:stretch>
        </p:blipFill>
        <p:spPr>
          <a:xfrm>
            <a:off x="3090951" y="2490060"/>
            <a:ext cx="6650177" cy="3679940"/>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2"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Attacks on Packet Filters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783080"/>
            <a:ext cx="10881360" cy="777240"/>
          </a:xfrm>
          <a:prstGeom prst="roundRect">
            <a:avLst>
              <a:gd name="adj" fmla="val 9412"/>
            </a:avLst>
          </a:prstGeom>
          <a:solidFill>
            <a:srgbClr val="FFFFFF"/>
          </a:solidFill>
          <a:ln/>
          <a:effectLst>
            <a:outerShdw blurRad="63500" dist="12700" dir="5400000" algn="bl" rotWithShape="0">
              <a:srgbClr val="1B2A41">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68680" y="1965960"/>
            <a:ext cx="411480" cy="41148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txBox="1"/>
          <p:nvPr/>
        </p:nvSpPr>
        <p:spPr>
          <a:xfrm>
            <a:off x="868680" y="1965960"/>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1508760" y="1783080"/>
            <a:ext cx="9784080" cy="777240"/>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IP Address Spoofing — the attacker fakes the source address to appear as a trusted host. Countered by adding filters on the router to block external packets claiming to be from an internal address.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640080" y="2697480"/>
            <a:ext cx="10881360" cy="777240"/>
          </a:xfrm>
          <a:prstGeom prst="roundRect">
            <a:avLst>
              <a:gd name="adj" fmla="val 9412"/>
            </a:avLst>
          </a:prstGeom>
          <a:solidFill>
            <a:srgbClr val="FFFFFF"/>
          </a:solidFill>
          <a:ln/>
          <a:effectLst>
            <a:outerShdw blurRad="63500" dist="12700" dir="5400000" algn="bl" rotWithShape="0">
              <a:srgbClr val="1B2A41">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868680" y="2880360"/>
            <a:ext cx="411480" cy="411480"/>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868680" y="2880360"/>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1508760" y="2697480"/>
            <a:ext cx="9784080" cy="777240"/>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Source Routing Attacks — the attacker specifies the route a packet should take, bypassing normal security checks. Countered by blocking all source-routed packets outright.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40080" y="3611880"/>
            <a:ext cx="10881360" cy="777240"/>
          </a:xfrm>
          <a:prstGeom prst="roundRect">
            <a:avLst>
              <a:gd name="adj" fmla="val 9412"/>
            </a:avLst>
          </a:prstGeom>
          <a:solidFill>
            <a:srgbClr val="FFFFFF"/>
          </a:solidFill>
          <a:ln/>
          <a:effectLst>
            <a:outerShdw blurRad="63500" dist="12700" dir="5400000" algn="bl" rotWithShape="0">
              <a:srgbClr val="1B2A41">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868680" y="3794760"/>
            <a:ext cx="411480" cy="411480"/>
          </a:xfrm>
          <a:prstGeom prst="ellipse">
            <a:avLst/>
          </a:prstGeom>
          <a:solidFill>
            <a:srgbClr val="FF9F1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txBox="1"/>
          <p:nvPr/>
        </p:nvSpPr>
        <p:spPr>
          <a:xfrm>
            <a:off x="868680" y="3794760"/>
            <a:ext cx="4114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1508760" y="3611880"/>
            <a:ext cx="9784080" cy="777240"/>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Tiny Fragment Attacks — header information is split across several very small packets to slip past filters. Countered by discarding tiny fragments or reassembling packets before inspection.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Stateful Packet Filters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txBox="1"/>
          <p:nvPr/>
        </p:nvSpPr>
        <p:spPr>
          <a:xfrm>
            <a:off x="640080" y="1691640"/>
            <a:ext cx="6492240" cy="2103120"/>
          </a:xfrm>
          <a:prstGeom prst="rect">
            <a:avLst/>
          </a:prstGeom>
          <a:noFill/>
          <a:ln/>
        </p:spPr>
        <p:txBody>
          <a:bodyPr wrap="square" lIns="0" tIns="0" rIns="0" bIns="0" rtlCol="0" anchor="ct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Traditional packet filters examine each IP packet in isolation and cannot match a returning packet with the outgoing flow that triggered it. Stateful packet filters close this gap by tracking the state of every connection, and are far better able to detect bogus packets that fall outside any known context.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txBox="1"/>
          <p:nvPr/>
        </p:nvSpPr>
        <p:spPr>
          <a:xfrm>
            <a:off x="640080" y="393192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How stateful filtering works: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640080" y="429768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Examines each packet within the context of a connection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3840480" y="429768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Keeps track of client-server sessions as they are established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640080" y="466344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Confirms every packet belongs to a session already in progress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txBox="1"/>
          <p:nvPr/>
        </p:nvSpPr>
        <p:spPr>
          <a:xfrm>
            <a:off x="3840480" y="466344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Maintains a dynamic state table of active connections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640080" y="502920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Detects and drops packets that fall outside any known session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3840480" y="5029200"/>
            <a:ext cx="301752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  Matches reply traffic automatically to its originating request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7498080" y="1691640"/>
            <a:ext cx="4069080" cy="4160520"/>
          </a:xfrm>
          <a:prstGeom prst="roundRect">
            <a:avLst>
              <a:gd name="adj" fmla="val 2247"/>
            </a:avLst>
          </a:prstGeom>
          <a:solidFill>
            <a:srgbClr val="0B1F3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10149840" y="1554480"/>
            <a:ext cx="1463040" cy="146304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p:cNvSpPr/>
          <p:nvPr/>
        </p:nvSpPr>
        <p:spPr>
          <a:xfrm>
            <a:off x="10424160" y="1828800"/>
            <a:ext cx="914400" cy="91440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7772400" y="196596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KEY IDEA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7772400" y="2286000"/>
            <a:ext cx="3474720" cy="1005840"/>
          </a:xfrm>
          <a:prstGeom prst="rect">
            <a:avLst/>
          </a:prstGeom>
          <a:noFill/>
          <a:ln/>
        </p:spPr>
        <p:txBody>
          <a:bodyPr wrap="square" lIns="0" tIns="0" rIns="0" bIns="0" rtlCol="0" anchor="ctr"/>
          <a:lstStyle/>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Context-Aware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28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Filtering</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772400" y="3429000"/>
            <a:ext cx="3291840" cy="0"/>
          </a:xfrm>
          <a:prstGeom prst="line">
            <a:avLst/>
          </a:prstGeom>
          <a:noFill/>
          <a:ln w="12700">
            <a:solidFill>
              <a:srgbClr val="2A487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7772400" y="3639312"/>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8028432" y="3538728"/>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Session Tracking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txBox="1"/>
          <p:nvPr/>
        </p:nvSpPr>
        <p:spPr>
          <a:xfrm>
            <a:off x="8028432" y="3794760"/>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Maintains state for every active client–server session, not just individual packets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7772400" y="4398264"/>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8028432" y="4297680"/>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Context Validation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8028432" y="4553712"/>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Confirms each packet validly belongs to a session already in progress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7772400" y="5157216"/>
            <a:ext cx="109728" cy="109728"/>
          </a:xfrm>
          <a:prstGeom prst="ellipse">
            <a:avLst/>
          </a:prstGeom>
          <a:solidFill>
            <a:srgbClr val="8FD3F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8028432" y="5056632"/>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Return-Path Matching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8028432" y="5312664"/>
            <a:ext cx="3429000" cy="50292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Automatically matches reply packets to the outbound request that caused them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Application-Level Gateway (Proxy)</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3" name="Subhead 9013"/>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 proxy with full protocol awareness: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4" name="Bullet 9014"/>
          <p:cNvSpPr txBox="1"/>
          <p:nvPr/>
        </p:nvSpPr>
        <p:spPr>
          <a:xfrm>
            <a:off x="640080" y="2130060"/>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User requests a service from the proxy; the proxy validates the request as legal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5" name="Bullet 9015"/>
          <p:cNvSpPr txBox="1"/>
          <p:nvPr/>
        </p:nvSpPr>
        <p:spPr>
          <a:xfrm>
            <a:off x="640080" y="2705184"/>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Only then does it action the request and return the result to the user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6" name="Bullet 9016"/>
          <p:cNvSpPr txBox="1"/>
          <p:nvPr/>
        </p:nvSpPr>
        <p:spPr>
          <a:xfrm>
            <a:off x="640080" y="3280308"/>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Can log and audit traffic at the application level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7" name="Bullet 9017"/>
          <p:cNvSpPr txBox="1"/>
          <p:nvPr/>
        </p:nvSpPr>
        <p:spPr>
          <a:xfrm>
            <a:off x="640080" y="3672870"/>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Needs a separate proxy for each service — some support this naturally, others are harder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18" name="Card 9018"/>
          <p:cNvSpPr/>
          <p:nvPr/>
        </p:nvSpPr>
        <p:spPr>
          <a:xfrm>
            <a:off x="6500000" y="2837808"/>
            <a:ext cx="5051920" cy="2424444"/>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019" name="Picture 9018" descr="image.png"/>
          <p:cNvPicPr>
            <a:picLocks noChangeAspect="1"/>
          </p:cNvPicPr>
          <p:nvPr/>
        </p:nvPicPr>
        <p:blipFill>
          <a:blip r:embed="rId2"/>
          <a:stretch>
            <a:fillRect/>
          </a:stretch>
        </p:blipFill>
        <p:spPr>
          <a:xfrm>
            <a:off x="6680000" y="3017808"/>
            <a:ext cx="4691920" cy="2064444"/>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0"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Circuit-Level Gateway</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1" name="Subhead 9021"/>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Relays connections without inspecting content: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2" name="Bullet 9022"/>
          <p:cNvSpPr txBox="1"/>
          <p:nvPr/>
        </p:nvSpPr>
        <p:spPr>
          <a:xfrm>
            <a:off x="640080" y="2130060"/>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Relays two TCP connections end to end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3" name="Bullet 9023"/>
          <p:cNvSpPr txBox="1"/>
          <p:nvPr/>
        </p:nvSpPr>
        <p:spPr>
          <a:xfrm>
            <a:off x="640080" y="2522622"/>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Imposes security by limiting which such connections are allowed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4" name="Bullet 9024"/>
          <p:cNvSpPr txBox="1"/>
          <p:nvPr/>
        </p:nvSpPr>
        <p:spPr>
          <a:xfrm>
            <a:off x="640080" y="2915184"/>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Once created, usually relays traffic without examining its contents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5" name="Bullet 9025"/>
          <p:cNvSpPr txBox="1"/>
          <p:nvPr/>
        </p:nvSpPr>
        <p:spPr>
          <a:xfrm>
            <a:off x="640080" y="3490308"/>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Typically used to trust internal users with general outbound access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6" name="Bullet 9026"/>
          <p:cNvSpPr txBox="1"/>
          <p:nvPr/>
        </p:nvSpPr>
        <p:spPr>
          <a:xfrm>
            <a:off x="640080" y="4065432"/>
            <a:ext cx="5486400" cy="222562"/>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SOCKS is a commonly used circuit-level protocol</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7" name="Card 9027"/>
          <p:cNvSpPr/>
          <p:nvPr/>
        </p:nvSpPr>
        <p:spPr>
          <a:xfrm>
            <a:off x="6500000" y="2837808"/>
            <a:ext cx="5051920" cy="2424444"/>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028" name="Picture 9027" descr="image.png"/>
          <p:cNvPicPr>
            <a:picLocks noChangeAspect="1"/>
          </p:cNvPicPr>
          <p:nvPr/>
        </p:nvPicPr>
        <p:blipFill>
          <a:blip r:embed="rId2"/>
          <a:stretch>
            <a:fillRect/>
          </a:stretch>
        </p:blipFill>
        <p:spPr>
          <a:xfrm>
            <a:off x="6680000" y="3017808"/>
            <a:ext cx="4691920" cy="2064444"/>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9"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Bastion Host &amp; Firewall Configurations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1" name="Para 9701"/>
          <p:cNvSpPr txBox="1"/>
          <p:nvPr/>
        </p:nvSpPr>
        <p:spPr>
          <a:xfrm>
            <a:off x="640080" y="1750060"/>
            <a:ext cx="11551920" cy="560000"/>
          </a:xfrm>
          <a:prstGeom prst="rect">
            <a:avLst/>
          </a:prstGeom>
          <a:noFill/>
          <a:ln/>
        </p:spPr>
        <p:txBody>
          <a:bodyPr wrap="square" lIns="0" tIns="0" rIns="0" bIns="0" rtlCol="0" anchor="t"/>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A bastion host is a highly secure system that runs the circuit- or application-level gateways and is hardened to withstand direct exposure to untrusted networks. It anchors each of the configurations below.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2" name="Card 9702"/>
          <p:cNvSpPr/>
          <p:nvPr/>
        </p:nvSpPr>
        <p:spPr>
          <a:xfrm>
            <a:off x="640080" y="3387486"/>
            <a:ext cx="3437280" cy="1525087"/>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703" name="Picture 9702" descr="image.png"/>
          <p:cNvPicPr>
            <a:picLocks noChangeAspect="1"/>
          </p:cNvPicPr>
          <p:nvPr/>
        </p:nvPicPr>
        <p:blipFill>
          <a:blip r:embed="rId2"/>
          <a:stretch>
            <a:fillRect/>
          </a:stretch>
        </p:blipFill>
        <p:spPr>
          <a:xfrm>
            <a:off x="820080" y="3567486"/>
            <a:ext cx="3077280" cy="1165087"/>
          </a:xfrm>
          <a:prstGeom prst="rect">
            <a:avLst/>
          </a:prstGeom>
        </p:spPr>
      </p:pic>
      <p:sp>
        <p:nvSpPr>
          <p:cNvPr id="4" name="Caption 9703"/>
          <p:cNvSpPr txBox="1"/>
          <p:nvPr/>
        </p:nvSpPr>
        <p:spPr>
          <a:xfrm>
            <a:off x="640080" y="4982573"/>
            <a:ext cx="3437280" cy="320000"/>
          </a:xfrm>
          <a:prstGeom prst="rect">
            <a:avLst/>
          </a:prstGeom>
          <a:noFill/>
          <a:ln/>
        </p:spPr>
        <p:txBody>
          <a:bodyPr wrap="square" lIns="0" tIns="0" rIns="0" bIns="0" rtlCol="0" anchor="t"/>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1F3A"/>
                </a:solidFill>
                <a:effectLst/>
                <a:uLnTx/>
                <a:uFillTx/>
                <a:latin typeface="Calibri" pitchFamily="34" charset="0"/>
                <a:ea typeface="Calibri" pitchFamily="34" charset="-122"/>
                <a:cs typeface="Calibri" pitchFamily="34" charset="-120"/>
              </a:rPr>
              <a:t>Screened Host — Single-Homed Bastion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4" name="Card 9704"/>
          <p:cNvSpPr/>
          <p:nvPr/>
        </p:nvSpPr>
        <p:spPr>
          <a:xfrm>
            <a:off x="4377360" y="3389132"/>
            <a:ext cx="3437280" cy="1521796"/>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705" name="Picture 9704" descr="image.png"/>
          <p:cNvPicPr>
            <a:picLocks noChangeAspect="1"/>
          </p:cNvPicPr>
          <p:nvPr/>
        </p:nvPicPr>
        <p:blipFill>
          <a:blip r:embed="rId3"/>
          <a:stretch>
            <a:fillRect/>
          </a:stretch>
        </p:blipFill>
        <p:spPr>
          <a:xfrm>
            <a:off x="4557360" y="3569132"/>
            <a:ext cx="3077280" cy="1161796"/>
          </a:xfrm>
          <a:prstGeom prst="rect">
            <a:avLst/>
          </a:prstGeom>
        </p:spPr>
      </p:pic>
      <p:sp>
        <p:nvSpPr>
          <p:cNvPr id="5" name="Caption 9705"/>
          <p:cNvSpPr txBox="1"/>
          <p:nvPr/>
        </p:nvSpPr>
        <p:spPr>
          <a:xfrm>
            <a:off x="4377360" y="4980928"/>
            <a:ext cx="3437280" cy="320000"/>
          </a:xfrm>
          <a:prstGeom prst="rect">
            <a:avLst/>
          </a:prstGeom>
          <a:noFill/>
          <a:ln/>
        </p:spPr>
        <p:txBody>
          <a:bodyPr wrap="square" lIns="0" tIns="0" rIns="0" bIns="0" rtlCol="0" anchor="t"/>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1F3A"/>
                </a:solidFill>
                <a:effectLst/>
                <a:uLnTx/>
                <a:uFillTx/>
                <a:latin typeface="Calibri" pitchFamily="34" charset="0"/>
                <a:ea typeface="Calibri" pitchFamily="34" charset="-122"/>
                <a:cs typeface="Calibri" pitchFamily="34" charset="-120"/>
              </a:rPr>
              <a:t>Screened Host — Dual-Homed Bastion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6" name="Card 9706"/>
          <p:cNvSpPr/>
          <p:nvPr/>
        </p:nvSpPr>
        <p:spPr>
          <a:xfrm>
            <a:off x="8114640" y="3402297"/>
            <a:ext cx="3437280" cy="1495466"/>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707" name="Picture 9706" descr="image.png"/>
          <p:cNvPicPr>
            <a:picLocks noChangeAspect="1"/>
          </p:cNvPicPr>
          <p:nvPr/>
        </p:nvPicPr>
        <p:blipFill>
          <a:blip r:embed="rId4"/>
          <a:stretch>
            <a:fillRect/>
          </a:stretch>
        </p:blipFill>
        <p:spPr>
          <a:xfrm>
            <a:off x="8294640" y="3582297"/>
            <a:ext cx="3077280" cy="1135466"/>
          </a:xfrm>
          <a:prstGeom prst="rect">
            <a:avLst/>
          </a:prstGeom>
        </p:spPr>
      </p:pic>
      <p:sp>
        <p:nvSpPr>
          <p:cNvPr id="6" name="Caption 9707"/>
          <p:cNvSpPr txBox="1"/>
          <p:nvPr/>
        </p:nvSpPr>
        <p:spPr>
          <a:xfrm>
            <a:off x="8114640" y="4967763"/>
            <a:ext cx="3437280" cy="320000"/>
          </a:xfrm>
          <a:prstGeom prst="rect">
            <a:avLst/>
          </a:prstGeom>
          <a:noFill/>
          <a:ln/>
        </p:spPr>
        <p:txBody>
          <a:bodyPr wrap="square" lIns="0" tIns="0" rIns="0" bIns="0" rtlCol="0" anchor="t"/>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B1F3A"/>
                </a:solidFill>
                <a:effectLst/>
                <a:uLnTx/>
                <a:uFillTx/>
                <a:latin typeface="Calibri" pitchFamily="34" charset="0"/>
                <a:ea typeface="Calibri" pitchFamily="34" charset="-122"/>
                <a:cs typeface="Calibri" pitchFamily="34" charset="-120"/>
              </a:rPr>
              <a:t>Screened-Subnet Firewall System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8"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09"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Access Control &amp; Trusted Systems</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0" name="Subhead 9510"/>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Controlling what an identified user can reach: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1" name="Bullet 9511"/>
          <p:cNvSpPr txBox="1"/>
          <p:nvPr/>
        </p:nvSpPr>
        <p:spPr>
          <a:xfrm>
            <a:off x="640080" y="2130060"/>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Once a system identifies a user, it must determine what resources they can access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2" name="Bullet 9512"/>
          <p:cNvSpPr txBox="1"/>
          <p:nvPr/>
        </p:nvSpPr>
        <p:spPr>
          <a:xfrm>
            <a:off x="640080" y="2705184"/>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Modelled as an access matrix of subjects (users/processes) and objects (files/resources)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3" name="Bullet 9513"/>
          <p:cNvSpPr txBox="1"/>
          <p:nvPr/>
        </p:nvSpPr>
        <p:spPr>
          <a:xfrm>
            <a:off x="640080" y="3280308"/>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Columns of the matrix form access control lists; rows form capability tickets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4" name="Bullet 9514"/>
          <p:cNvSpPr txBox="1"/>
          <p:nvPr/>
        </p:nvSpPr>
        <p:spPr>
          <a:xfrm>
            <a:off x="640080" y="3855432"/>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Trusted systems assign subjects and objects varying security levels — multilevel security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5" name="Card 9515"/>
          <p:cNvSpPr/>
          <p:nvPr/>
        </p:nvSpPr>
        <p:spPr>
          <a:xfrm>
            <a:off x="6500000" y="2873874"/>
            <a:ext cx="5051920" cy="2352311"/>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516" name="Picture 9515" descr="diagram_access_matrix.png"/>
          <p:cNvPicPr>
            <a:picLocks noChangeAspect="1"/>
          </p:cNvPicPr>
          <p:nvPr/>
        </p:nvPicPr>
        <p:blipFill>
          <a:blip r:embed="rId2"/>
          <a:stretch>
            <a:fillRect/>
          </a:stretch>
        </p:blipFill>
        <p:spPr>
          <a:xfrm>
            <a:off x="6680000" y="3053874"/>
            <a:ext cx="4691920" cy="1992311"/>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7"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Bell-LaPadula Model &amp; Reference Monitor</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8" name="Subhead 9518"/>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Two mandatory policies enforce multilevel security: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19" name="Bullet 9519"/>
          <p:cNvSpPr txBox="1"/>
          <p:nvPr/>
        </p:nvSpPr>
        <p:spPr>
          <a:xfrm>
            <a:off x="640080" y="2130060"/>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No Read Up (simple security property): a subject may read an object only if its security level dominates the object's classification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0" name="Bullet 9520"/>
          <p:cNvSpPr txBox="1"/>
          <p:nvPr/>
        </p:nvSpPr>
        <p:spPr>
          <a:xfrm>
            <a:off x="640080" y="2705184"/>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No Write Down (*-property): a subject may write to an object only if its level is dominated by the object's classification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1" name="Bullet 9521"/>
          <p:cNvSpPr txBox="1"/>
          <p:nvPr/>
        </p:nvSpPr>
        <p:spPr>
          <a:xfrm>
            <a:off x="640080" y="3280308"/>
            <a:ext cx="5486400" cy="587686"/>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A reference monitor mediates every access, checking subject and object security attributes against a security kernel database and logging to an audit file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2" name="Card 9522"/>
          <p:cNvSpPr/>
          <p:nvPr/>
        </p:nvSpPr>
        <p:spPr>
          <a:xfrm>
            <a:off x="6500000" y="2132003"/>
            <a:ext cx="5051920" cy="3836053"/>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523" name="Picture 9522" descr="diagram_reference_monitor.png"/>
          <p:cNvPicPr>
            <a:picLocks noChangeAspect="1"/>
          </p:cNvPicPr>
          <p:nvPr/>
        </p:nvPicPr>
        <p:blipFill>
          <a:blip r:embed="rId2"/>
          <a:stretch>
            <a:fillRect/>
          </a:stretch>
        </p:blipFill>
        <p:spPr>
          <a:xfrm>
            <a:off x="6680000" y="2312003"/>
            <a:ext cx="4691920" cy="3476053"/>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4"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Common Criteria — Overview</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5" name="Subhead 9525"/>
          <p:cNvSpPr txBox="1"/>
          <p:nvPr/>
        </p:nvSpPr>
        <p:spPr>
          <a:xfrm>
            <a:off x="640080" y="175006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B1F3A"/>
                </a:solidFill>
                <a:effectLst/>
                <a:uLnTx/>
                <a:uFillTx/>
                <a:latin typeface="Cambria" pitchFamily="34" charset="0"/>
                <a:ea typeface="Cambria" pitchFamily="34" charset="-122"/>
                <a:cs typeface="Cambria" pitchFamily="34" charset="-120"/>
              </a:rPr>
              <a:t>An international standard for security evaluation: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6" name="Bullet 9526"/>
          <p:cNvSpPr txBox="1"/>
          <p:nvPr/>
        </p:nvSpPr>
        <p:spPr>
          <a:xfrm>
            <a:off x="640080" y="2130060"/>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Specifies security requirements and defines criteria for evaluating IT products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7" name="Bullet 9527"/>
          <p:cNvSpPr txBox="1"/>
          <p:nvPr/>
        </p:nvSpPr>
        <p:spPr>
          <a:xfrm>
            <a:off x="640080" y="2705184"/>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Incorporates earlier standards — TCSEC, ITSEC, and the Canadian CTCPEC</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8" name="Bullet 9528"/>
          <p:cNvSpPr txBox="1"/>
          <p:nvPr/>
        </p:nvSpPr>
        <p:spPr>
          <a:xfrm>
            <a:off x="640080" y="3280308"/>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Defines a Target of Evaluation (TOE) against which requirements are assessed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29" name="Bullet 9529"/>
          <p:cNvSpPr txBox="1"/>
          <p:nvPr/>
        </p:nvSpPr>
        <p:spPr>
          <a:xfrm>
            <a:off x="640080" y="3855432"/>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Covers evaluation criteria, methodology, and administrative certification procedures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30" name="Bullet 9530"/>
          <p:cNvSpPr txBox="1"/>
          <p:nvPr/>
        </p:nvSpPr>
        <p:spPr>
          <a:xfrm>
            <a:off x="640080" y="4430556"/>
            <a:ext cx="5486400" cy="405124"/>
          </a:xfrm>
          <a:prstGeom prst="rect">
            <a:avLst/>
          </a:prstGeom>
          <a:noFill/>
          <a:ln/>
        </p:spPr>
        <p:txBody>
          <a:bodyPr wrap="square" lIns="0" tIns="0" rIns="0" bIns="0" rtlCol="0" anchor="t"/>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16233A"/>
                </a:solidFill>
                <a:effectLst/>
                <a:uLnTx/>
                <a:uFillTx/>
                <a:latin typeface="Calibri" pitchFamily="34" charset="0"/>
                <a:ea typeface="Calibri" pitchFamily="34" charset="-122"/>
                <a:cs typeface="Calibri" pitchFamily="34" charset="-120"/>
              </a:rPr>
              <a:t>Requirements are grouped into reusable Packages feeding Protection Profiles and Security Targets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31" name="Card 9531"/>
          <p:cNvSpPr/>
          <p:nvPr/>
        </p:nvSpPr>
        <p:spPr>
          <a:xfrm>
            <a:off x="6500000" y="2598709"/>
            <a:ext cx="5051920" cy="2902641"/>
          </a:xfrm>
          <a:prstGeom prst="roundRect">
            <a:avLst>
              <a:gd name="adj" fmla="val 2597"/>
            </a:avLst>
          </a:prstGeom>
          <a:solidFill>
            <a:srgbClr val="FFFFFF"/>
          </a:solidFill>
          <a:ln/>
          <a:effectLst>
            <a:outerShdw blurRad="101600" dist="25400" dir="5400000" algn="bl" rotWithShape="0">
              <a:srgbClr val="1B2A41">
                <a:alpha val="10000"/>
              </a:srgbClr>
            </a:outerShdw>
          </a:effectLst>
        </p:spPr>
        <p:txBody>
          <a:bodyPr/>
          <a:lstStyle/>
          <a:p>
            <a:endParaRPr lang="en-IN"/>
          </a:p>
        </p:txBody>
      </p:sp>
      <p:pic>
        <p:nvPicPr>
          <p:cNvPr id="9532" name="Picture 9531" descr="diagram_common_criteria_1.png"/>
          <p:cNvPicPr>
            <a:picLocks noChangeAspect="1"/>
          </p:cNvPicPr>
          <p:nvPr/>
        </p:nvPicPr>
        <p:blipFill>
          <a:blip r:embed="rId2"/>
          <a:stretch>
            <a:fillRect/>
          </a:stretch>
        </p:blipFill>
        <p:spPr>
          <a:xfrm>
            <a:off x="6680000" y="2778709"/>
            <a:ext cx="4691920" cy="2542641"/>
          </a:xfrm>
          <a:prstGeom prst="rect">
            <a:avLst/>
          </a:prstGeom>
        </p:spPr>
      </p:pic>
      <p:sp>
        <p:nvSpPr>
          <p:cNvPr id="4" name="Footer Label"/>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5C6B80"/>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33" name="Footer Page"/>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C6B80"/>
                </a:solidFill>
                <a:effectLst/>
                <a:uLnTx/>
                <a:uFillTx/>
                <a:latin typeface="Calibri" pitchFamily="34" charset="0"/>
                <a:ea typeface="Calibri" pitchFamily="34" charset="-122"/>
                <a:cs typeface="Calibri"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91440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CHAPTER 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621792" y="658368"/>
            <a:ext cx="1088136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Common Criteria – Requirement Categories</a:t>
            </a:r>
            <a:endParaRPr kumimoji="0" lang="en-US" sz="30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4" name="Shape 2"/>
          <p:cNvSpPr/>
          <p:nvPr/>
        </p:nvSpPr>
        <p:spPr>
          <a:xfrm>
            <a:off x="640080" y="178308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841248" y="198424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txBox="1"/>
          <p:nvPr/>
        </p:nvSpPr>
        <p:spPr>
          <a:xfrm>
            <a:off x="841248" y="198424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868680" y="249631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Security Audit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txBox="1"/>
          <p:nvPr/>
        </p:nvSpPr>
        <p:spPr>
          <a:xfrm>
            <a:off x="868680" y="286207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Functional — recording and reviewing security-relevant events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434840" y="178308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4636008" y="198424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txBox="1"/>
          <p:nvPr/>
        </p:nvSpPr>
        <p:spPr>
          <a:xfrm>
            <a:off x="4636008" y="198424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4663440" y="249631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Cryptographic Support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4663440" y="286207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Functional — managing keys and cryptographic operations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8229600" y="178308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8430768" y="198424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8430768" y="198424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8458200" y="249631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User Data Protection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8458200" y="286207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Functional — enforcing access-control on user data &amp; privacy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40080" y="374904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841248" y="395020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841248" y="3950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868680" y="446227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Configuration Management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txBox="1"/>
          <p:nvPr/>
        </p:nvSpPr>
        <p:spPr>
          <a:xfrm>
            <a:off x="868680" y="482803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Assurance — controlling change through the development lifecycle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434840" y="374904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4636008" y="395020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txBox="1"/>
          <p:nvPr/>
        </p:nvSpPr>
        <p:spPr>
          <a:xfrm>
            <a:off x="4636008" y="3950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txBox="1"/>
          <p:nvPr/>
        </p:nvSpPr>
        <p:spPr>
          <a:xfrm>
            <a:off x="4663440" y="446227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Testing &amp; Vulnerability Assessment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txBox="1"/>
          <p:nvPr/>
        </p:nvSpPr>
        <p:spPr>
          <a:xfrm>
            <a:off x="4663440" y="482803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Assurance — verifying functionality and searching for weaknesses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8229600" y="3749040"/>
            <a:ext cx="3520440" cy="1691640"/>
          </a:xfrm>
          <a:prstGeom prst="roundRect">
            <a:avLst>
              <a:gd name="adj" fmla="val 5405"/>
            </a:avLst>
          </a:prstGeom>
          <a:solidFill>
            <a:srgbClr val="13294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8430768" y="3950208"/>
            <a:ext cx="384048" cy="384048"/>
          </a:xfrm>
          <a:prstGeom prst="ellipse">
            <a:avLst/>
          </a:prstGeom>
          <a:ln w="254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txBox="1"/>
          <p:nvPr/>
        </p:nvSpPr>
        <p:spPr>
          <a:xfrm>
            <a:off x="8430768" y="3950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9F1C"/>
                </a:solidFill>
                <a:effectLst/>
                <a:uLnTx/>
                <a:uFillTx/>
                <a:latin typeface="Cambria" pitchFamily="34" charset="0"/>
                <a:ea typeface="Cambria" pitchFamily="34" charset="-122"/>
                <a:cs typeface="Cambria" pitchFamily="34" charset="-120"/>
              </a:rPr>
              <a:t>6</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txBox="1"/>
          <p:nvPr/>
        </p:nvSpPr>
        <p:spPr>
          <a:xfrm>
            <a:off x="8458200" y="4462272"/>
            <a:ext cx="30632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Guidance &amp; Life-Cycle Support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txBox="1"/>
          <p:nvPr/>
        </p:nvSpPr>
        <p:spPr>
          <a:xfrm>
            <a:off x="8458200" y="4828032"/>
            <a:ext cx="3063240" cy="548640"/>
          </a:xfrm>
          <a:prstGeom prst="rect">
            <a:avLst/>
          </a:prstGeom>
          <a:noFill/>
          <a:ln/>
        </p:spPr>
        <p:txBody>
          <a:bodyPr wrap="square" lIns="0" tIns="0" rIns="0" bIns="0" rtlCol="0" anchor="ctr"/>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AEC2DD"/>
                </a:solidFill>
                <a:effectLst/>
                <a:uLnTx/>
                <a:uFillTx/>
                <a:latin typeface="Calibri" pitchFamily="34" charset="0"/>
                <a:ea typeface="Calibri" pitchFamily="34" charset="-122"/>
                <a:cs typeface="Calibri" pitchFamily="34" charset="-120"/>
              </a:rPr>
              <a:t>Assurance — proper documentation, delivery, operation &amp; upkeep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6C86AC"/>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C86AC"/>
                </a:solidFill>
                <a:effectLst/>
                <a:uLnTx/>
                <a:uFillTx/>
                <a:latin typeface="Calibri" pitchFamily="34" charset="0"/>
                <a:ea typeface="Calibri" pitchFamily="34" charset="-122"/>
                <a:cs typeface="Calibri" pitchFamily="34" charset="-120"/>
              </a:rPr>
              <a:t>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9052560" y="-182880"/>
            <a:ext cx="2743200" cy="274320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9509760" y="274320"/>
            <a:ext cx="1828800" cy="182880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9921240" y="685800"/>
            <a:ext cx="1005840" cy="1005840"/>
          </a:xfrm>
          <a:prstGeom prst="ellipse">
            <a:avLst/>
          </a:prstGeom>
          <a:ln w="12700">
            <a:solidFill>
              <a:srgbClr val="8FD3FE">
                <a:alpha val="3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822960" y="822960"/>
            <a:ext cx="7315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9F1C"/>
                </a:solidFill>
                <a:effectLst/>
                <a:uLnTx/>
                <a:uFillTx/>
                <a:latin typeface="Calibri" pitchFamily="34" charset="0"/>
                <a:ea typeface="Calibri" pitchFamily="34" charset="-122"/>
                <a:cs typeface="Calibri"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804672" y="1234440"/>
            <a:ext cx="9601200" cy="1371600"/>
          </a:xfrm>
          <a:prstGeom prst="rect">
            <a:avLst/>
          </a:prstGeom>
          <a:noFill/>
          <a:ln/>
        </p:spPr>
        <p:txBody>
          <a:bodyPr wrap="square" lIns="0" tIns="0" rIns="0" bIns="0" rtlCol="0" anchor="ctr"/>
          <a:lstStyle/>
          <a:p>
            <a:pPr marL="0" marR="0" lvl="0" indent="0" algn="l" defTabSz="914400" rtl="0" eaLnBrk="1" fontAlgn="auto" latinLnBrk="0" hangingPunct="1">
              <a:lnSpc>
                <a:spcPts val="3600"/>
              </a:lnSpc>
              <a:spcBef>
                <a:spcPts val="0"/>
              </a:spcBef>
              <a:spcAft>
                <a:spcPts val="0"/>
              </a:spcAft>
              <a:buClrTx/>
              <a:buSzTx/>
              <a:buFontTx/>
              <a:buNone/>
              <a:tabLst/>
              <a:defRPr/>
            </a:pPr>
            <a:r>
              <a:rPr kumimoji="0" lang="en-US" sz="30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A layered defense that turns policy</a:t>
            </a:r>
            <a:endParaRPr kumimoji="0" lang="en-US" sz="3000" b="0" i="0" u="none" strike="noStrike" kern="1200" cap="none" spc="0" normalizeH="0" baseline="0" noProof="0" dirty="0">
              <a:ln>
                <a:noFill/>
              </a:ln>
              <a:solidFill>
                <a:schemeClr val="tx1"/>
              </a:solidFill>
              <a:effectLst/>
              <a:uLnTx/>
              <a:uFillTx/>
              <a:latin typeface="Calibri" panose="020F0502020204030204"/>
              <a:ea typeface="+mn-ea"/>
              <a:cs typeface="+mn-cs"/>
            </a:endParaRPr>
          </a:p>
          <a:p>
            <a:pPr marL="0" marR="0" lvl="0" indent="0" algn="l" defTabSz="914400" rtl="0" eaLnBrk="1" fontAlgn="auto" latinLnBrk="0" hangingPunct="1">
              <a:lnSpc>
                <a:spcPts val="3600"/>
              </a:lnSpc>
              <a:spcBef>
                <a:spcPts val="0"/>
              </a:spcBef>
              <a:spcAft>
                <a:spcPts val="0"/>
              </a:spcAft>
              <a:buClrTx/>
              <a:buSzTx/>
              <a:buFontTx/>
              <a:buNone/>
              <a:tabLst/>
              <a:defRPr/>
            </a:pPr>
            <a:r>
              <a:rPr kumimoji="0" lang="en-US" sz="3000" b="1" i="0" u="none" strike="noStrike" kern="1200" cap="none" spc="0" normalizeH="0" baseline="0" noProof="0" dirty="0">
                <a:ln>
                  <a:noFill/>
                </a:ln>
                <a:solidFill>
                  <a:schemeClr val="tx1"/>
                </a:solidFill>
                <a:effectLst/>
                <a:uLnTx/>
                <a:uFillTx/>
                <a:latin typeface="Cambria" pitchFamily="34" charset="0"/>
                <a:ea typeface="Cambria" pitchFamily="34" charset="-122"/>
                <a:cs typeface="Cambria" pitchFamily="34" charset="-120"/>
              </a:rPr>
              <a:t>into a controlled point of trust.</a:t>
            </a:r>
            <a:endParaRPr kumimoji="0" lang="en-US" sz="30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7" name="Text 5"/>
          <p:cNvSpPr txBox="1"/>
          <p:nvPr/>
        </p:nvSpPr>
        <p:spPr>
          <a:xfrm>
            <a:off x="822960" y="2834640"/>
            <a:ext cx="7863840" cy="2286000"/>
          </a:xfrm>
          <a:prstGeom prst="rect">
            <a:avLst/>
          </a:prstGeom>
          <a:noFill/>
          <a:ln/>
        </p:spPr>
        <p:txBody>
          <a:bodyPr wrap="square" lIns="0" tIns="0" rIns="0" bIns="0" rtlCol="0" anchor="ct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itchFamily="34" charset="0"/>
                <a:ea typeface="Calibri" pitchFamily="34" charset="-122"/>
                <a:cs typeface="Calibri" pitchFamily="34" charset="-120"/>
              </a:rPr>
              <a:t>Firewalls remain the foundation of network perimeter defense — from simple packet filters to stateful inspection, application gateways and circuit-level proxies. Bastion hosts and screened-subnet configurations harden that perimeter further, while trusted-system models such as Bell-LaPadula and the reference monitor govern access once traffic is inside. Together with internationally recognised Common Criteria evaluation, they form a layered, auditable approach to information security that no single control can achieve alone.</a:t>
            </a:r>
            <a:endPar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8" name="Shape 6"/>
          <p:cNvSpPr/>
          <p:nvPr/>
        </p:nvSpPr>
        <p:spPr>
          <a:xfrm>
            <a:off x="822960" y="5623560"/>
            <a:ext cx="1874520" cy="384048"/>
          </a:xfrm>
          <a:prstGeom prst="roundRect">
            <a:avLst>
              <a:gd name="adj" fmla="val 50000"/>
            </a:avLst>
          </a:prstGeom>
          <a:solidFill>
            <a:srgbClr val="13294B"/>
          </a:solidFill>
          <a:ln w="127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822960" y="5623560"/>
            <a:ext cx="18745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FD3FE"/>
                </a:solidFill>
                <a:effectLst/>
                <a:uLnTx/>
                <a:uFillTx/>
                <a:latin typeface="Calibri" pitchFamily="34" charset="0"/>
                <a:ea typeface="Calibri" pitchFamily="34" charset="-122"/>
                <a:cs typeface="Calibri" pitchFamily="34" charset="-120"/>
              </a:rPr>
              <a:t>Packet Filtering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862072" y="5623560"/>
            <a:ext cx="1691640" cy="384048"/>
          </a:xfrm>
          <a:prstGeom prst="roundRect">
            <a:avLst>
              <a:gd name="adj" fmla="val 50000"/>
            </a:avLst>
          </a:prstGeom>
          <a:solidFill>
            <a:srgbClr val="13294B"/>
          </a:solidFill>
          <a:ln w="127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txBox="1"/>
          <p:nvPr/>
        </p:nvSpPr>
        <p:spPr>
          <a:xfrm>
            <a:off x="2862072" y="5623560"/>
            <a:ext cx="16916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FD3FE"/>
                </a:solidFill>
                <a:effectLst/>
                <a:uLnTx/>
                <a:uFillTx/>
                <a:latin typeface="Calibri" pitchFamily="34" charset="0"/>
                <a:ea typeface="Calibri" pitchFamily="34" charset="-122"/>
                <a:cs typeface="Calibri" pitchFamily="34" charset="-120"/>
              </a:rPr>
              <a:t>Stateful Inspection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4718304" y="5623560"/>
            <a:ext cx="2148840" cy="384048"/>
          </a:xfrm>
          <a:prstGeom prst="roundRect">
            <a:avLst>
              <a:gd name="adj" fmla="val 50000"/>
            </a:avLst>
          </a:prstGeom>
          <a:solidFill>
            <a:srgbClr val="13294B"/>
          </a:solidFill>
          <a:ln w="127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4718304" y="5623560"/>
            <a:ext cx="21488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FD3FE"/>
                </a:solidFill>
                <a:effectLst/>
                <a:uLnTx/>
                <a:uFillTx/>
                <a:latin typeface="Calibri" pitchFamily="34" charset="0"/>
                <a:ea typeface="Calibri" pitchFamily="34" charset="-122"/>
                <a:cs typeface="Calibri" pitchFamily="34" charset="-120"/>
              </a:rPr>
              <a:t>Trusted Systems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7031736" y="5623560"/>
            <a:ext cx="1874520" cy="384048"/>
          </a:xfrm>
          <a:prstGeom prst="roundRect">
            <a:avLst>
              <a:gd name="adj" fmla="val 50000"/>
            </a:avLst>
          </a:prstGeom>
          <a:solidFill>
            <a:srgbClr val="13294B"/>
          </a:solidFill>
          <a:ln w="12700">
            <a:solidFill>
              <a:srgbClr val="FF9F1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7031736" y="5623560"/>
            <a:ext cx="187452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8FD3FE"/>
                </a:solidFill>
                <a:effectLst/>
                <a:uLnTx/>
                <a:uFillTx/>
                <a:latin typeface="Calibri" pitchFamily="34" charset="0"/>
                <a:ea typeface="Calibri" pitchFamily="34" charset="-122"/>
                <a:cs typeface="Calibri" pitchFamily="34" charset="-120"/>
              </a:rPr>
              <a:t>Common Criteria</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457200" y="6473952"/>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0" normalizeH="0" baseline="0" noProof="0" dirty="0">
                <a:ln>
                  <a:noFill/>
                </a:ln>
                <a:solidFill>
                  <a:srgbClr val="6C86AC"/>
                </a:solidFill>
                <a:effectLst/>
                <a:uLnTx/>
                <a:uFillTx/>
                <a:latin typeface="Calibri" pitchFamily="34" charset="0"/>
                <a:ea typeface="Calibri" pitchFamily="34" charset="-122"/>
                <a:cs typeface="Calibri" pitchFamily="34" charset="-120"/>
              </a:rPr>
              <a:t>COMPUTER NETWORKS – UNIT V</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txBox="1"/>
          <p:nvPr/>
        </p:nvSpPr>
        <p:spPr>
          <a:xfrm>
            <a:off x="11274552" y="647395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C86AC"/>
                </a:solidFill>
                <a:effectLst/>
                <a:uLnTx/>
                <a:uFillTx/>
                <a:latin typeface="Calibri" pitchFamily="34" charset="0"/>
                <a:ea typeface="Calibri" pitchFamily="34" charset="-122"/>
                <a:cs typeface="Calibri"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TotalTime>
  <Words>1518</Words>
  <Application>Microsoft Office PowerPoint</Application>
  <PresentationFormat>Widescreen</PresentationFormat>
  <Paragraphs>208</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Yellowtail</vt:lpstr>
      <vt:lpstr>Calibri</vt:lpstr>
      <vt:lpstr>Archivo Narrow Medium</vt:lpstr>
      <vt:lpstr>Archivo Narrow</vt:lpstr>
      <vt:lpstr>Cambria</vt:lpstr>
      <vt:lpstr>IBM Plex Sans Condensed</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S.M.TEJASHREE KASHYAP</cp:lastModifiedBy>
  <cp:revision>3</cp:revision>
  <dcterms:modified xsi:type="dcterms:W3CDTF">2026-09-09T05:56:19Z</dcterms:modified>
</cp:coreProperties>
</file>